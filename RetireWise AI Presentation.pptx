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Helvetica World Bold" charset="1" panose="020B0800040000020004"/>
      <p:regular r:id="rId15"/>
    </p:embeddedFont>
    <p:embeddedFont>
      <p:font typeface="Helvetica World" charset="1" panose="020B0500040000020004"/>
      <p:regular r:id="rId16"/>
    </p:embeddedFont>
    <p:embeddedFont>
      <p:font typeface="Open Sauce Bold" charset="1" panose="00000800000000000000"/>
      <p:regular r:id="rId17"/>
    </p:embeddedFont>
    <p:embeddedFont>
      <p:font typeface="Open Sauce" charset="1" panose="00000500000000000000"/>
      <p:regular r:id="rId18"/>
    </p:embeddedFont>
    <p:embeddedFont>
      <p:font typeface="Inter" charset="1" panose="020B0502030000000004"/>
      <p:regular r:id="rId19"/>
    </p:embeddedFont>
    <p:embeddedFont>
      <p:font typeface="DM Sans" charset="1" panose="00000000000000000000"/>
      <p:regular r:id="rId20"/>
    </p:embeddedFont>
    <p:embeddedFont>
      <p:font typeface="DM Sans Bold" charset="1" panose="00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EF9"/>
        </a:solidFill>
      </p:bgPr>
    </p:bg>
    <p:spTree>
      <p:nvGrpSpPr>
        <p:cNvPr id="1" name=""/>
        <p:cNvGrpSpPr/>
        <p:nvPr/>
      </p:nvGrpSpPr>
      <p:grpSpPr>
        <a:xfrm>
          <a:off x="0" y="0"/>
          <a:ext cx="0" cy="0"/>
          <a:chOff x="0" y="0"/>
          <a:chExt cx="0" cy="0"/>
        </a:xfrm>
      </p:grpSpPr>
      <p:sp>
        <p:nvSpPr>
          <p:cNvPr name="Freeform 2" id="2"/>
          <p:cNvSpPr/>
          <p:nvPr/>
        </p:nvSpPr>
        <p:spPr>
          <a:xfrm flipH="false" flipV="false" rot="0">
            <a:off x="11673545" y="408097"/>
            <a:ext cx="9121379" cy="7996275"/>
          </a:xfrm>
          <a:custGeom>
            <a:avLst/>
            <a:gdLst/>
            <a:ahLst/>
            <a:cxnLst/>
            <a:rect r="r" b="b" t="t" l="l"/>
            <a:pathLst>
              <a:path h="7996275" w="9121379">
                <a:moveTo>
                  <a:pt x="0" y="0"/>
                </a:moveTo>
                <a:lnTo>
                  <a:pt x="9121379" y="0"/>
                </a:lnTo>
                <a:lnTo>
                  <a:pt x="9121379" y="7996275"/>
                </a:lnTo>
                <a:lnTo>
                  <a:pt x="0" y="7996275"/>
                </a:lnTo>
                <a:lnTo>
                  <a:pt x="0" y="0"/>
                </a:lnTo>
                <a:close/>
              </a:path>
            </a:pathLst>
          </a:custGeom>
          <a:blipFill>
            <a:blip r:embed="rId2">
              <a:alphaModFix amt="6000"/>
            </a:blip>
            <a:stretch>
              <a:fillRect l="0" t="0" r="0" b="0"/>
            </a:stretch>
          </a:blipFill>
        </p:spPr>
      </p:sp>
      <p:sp>
        <p:nvSpPr>
          <p:cNvPr name="AutoShape 3" id="3"/>
          <p:cNvSpPr/>
          <p:nvPr/>
        </p:nvSpPr>
        <p:spPr>
          <a:xfrm>
            <a:off x="1045163" y="1411559"/>
            <a:ext cx="16214137" cy="0"/>
          </a:xfrm>
          <a:prstGeom prst="line">
            <a:avLst/>
          </a:prstGeom>
          <a:ln cap="flat" w="19050">
            <a:solidFill>
              <a:srgbClr val="424242"/>
            </a:solidFill>
            <a:prstDash val="solid"/>
            <a:headEnd type="none" len="sm" w="sm"/>
            <a:tailEnd type="none" len="sm" w="sm"/>
          </a:ln>
        </p:spPr>
      </p:sp>
      <p:sp>
        <p:nvSpPr>
          <p:cNvPr name="Freeform 4" id="4"/>
          <p:cNvSpPr/>
          <p:nvPr/>
        </p:nvSpPr>
        <p:spPr>
          <a:xfrm flipH="false" flipV="false" rot="-699989">
            <a:off x="6012733" y="4208995"/>
            <a:ext cx="18515529" cy="7406211"/>
          </a:xfrm>
          <a:custGeom>
            <a:avLst/>
            <a:gdLst/>
            <a:ahLst/>
            <a:cxnLst/>
            <a:rect r="r" b="b" t="t" l="l"/>
            <a:pathLst>
              <a:path h="7406211" w="18515529">
                <a:moveTo>
                  <a:pt x="0" y="0"/>
                </a:moveTo>
                <a:lnTo>
                  <a:pt x="18515529" y="0"/>
                </a:lnTo>
                <a:lnTo>
                  <a:pt x="18515529" y="7406211"/>
                </a:lnTo>
                <a:lnTo>
                  <a:pt x="0" y="7406211"/>
                </a:lnTo>
                <a:lnTo>
                  <a:pt x="0" y="0"/>
                </a:lnTo>
                <a:close/>
              </a:path>
            </a:pathLst>
          </a:custGeom>
          <a:blipFill>
            <a:blip r:embed="rId3">
              <a:alphaModFix amt="31999"/>
            </a:blip>
            <a:stretch>
              <a:fillRect l="0" t="0" r="0" b="0"/>
            </a:stretch>
          </a:blipFill>
        </p:spPr>
      </p:sp>
      <p:sp>
        <p:nvSpPr>
          <p:cNvPr name="Freeform 5" id="5"/>
          <p:cNvSpPr/>
          <p:nvPr/>
        </p:nvSpPr>
        <p:spPr>
          <a:xfrm flipH="false" flipV="false" rot="4113877">
            <a:off x="-2522884" y="-2539479"/>
            <a:ext cx="7367392" cy="7858551"/>
          </a:xfrm>
          <a:custGeom>
            <a:avLst/>
            <a:gdLst/>
            <a:ahLst/>
            <a:cxnLst/>
            <a:rect r="r" b="b" t="t" l="l"/>
            <a:pathLst>
              <a:path h="7858551" w="7367392">
                <a:moveTo>
                  <a:pt x="0" y="0"/>
                </a:moveTo>
                <a:lnTo>
                  <a:pt x="7367392" y="0"/>
                </a:lnTo>
                <a:lnTo>
                  <a:pt x="7367392" y="7858551"/>
                </a:lnTo>
                <a:lnTo>
                  <a:pt x="0" y="7858551"/>
                </a:lnTo>
                <a:lnTo>
                  <a:pt x="0" y="0"/>
                </a:lnTo>
                <a:close/>
              </a:path>
            </a:pathLst>
          </a:custGeom>
          <a:blipFill>
            <a:blip r:embed="rId4">
              <a:alphaModFix amt="24000"/>
            </a:blip>
            <a:stretch>
              <a:fillRect l="0" t="0" r="0" b="0"/>
            </a:stretch>
          </a:blipFill>
        </p:spPr>
      </p:sp>
      <p:sp>
        <p:nvSpPr>
          <p:cNvPr name="TextBox 6" id="6"/>
          <p:cNvSpPr txBox="true"/>
          <p:nvPr/>
        </p:nvSpPr>
        <p:spPr>
          <a:xfrm rot="0">
            <a:off x="1028700" y="3999283"/>
            <a:ext cx="13932980" cy="3501291"/>
          </a:xfrm>
          <a:prstGeom prst="rect">
            <a:avLst/>
          </a:prstGeom>
        </p:spPr>
        <p:txBody>
          <a:bodyPr anchor="t" rtlCol="false" tIns="0" lIns="0" bIns="0" rIns="0">
            <a:spAutoFit/>
          </a:bodyPr>
          <a:lstStyle/>
          <a:p>
            <a:pPr algn="l" marL="0" indent="0" lvl="0">
              <a:lnSpc>
                <a:spcPts val="26528"/>
              </a:lnSpc>
              <a:spcBef>
                <a:spcPct val="0"/>
              </a:spcBef>
            </a:pPr>
            <a:r>
              <a:rPr lang="en-US" b="true" sz="18948" spc="-985">
                <a:solidFill>
                  <a:srgbClr val="222223"/>
                </a:solidFill>
                <a:latin typeface="Helvetica World Bold"/>
                <a:ea typeface="Helvetica World Bold"/>
                <a:cs typeface="Helvetica World Bold"/>
                <a:sym typeface="Helvetica World Bold"/>
              </a:rPr>
              <a:t>RetireWise AI</a:t>
            </a:r>
          </a:p>
        </p:txBody>
      </p:sp>
      <p:sp>
        <p:nvSpPr>
          <p:cNvPr name="TextBox 7" id="7"/>
          <p:cNvSpPr txBox="true"/>
          <p:nvPr/>
        </p:nvSpPr>
        <p:spPr>
          <a:xfrm rot="0">
            <a:off x="1045163" y="8412601"/>
            <a:ext cx="13197441" cy="731086"/>
          </a:xfrm>
          <a:prstGeom prst="rect">
            <a:avLst/>
          </a:prstGeom>
        </p:spPr>
        <p:txBody>
          <a:bodyPr anchor="t" rtlCol="false" tIns="0" lIns="0" bIns="0" rIns="0">
            <a:spAutoFit/>
          </a:bodyPr>
          <a:lstStyle/>
          <a:p>
            <a:pPr algn="l" marL="0" indent="0" lvl="0">
              <a:lnSpc>
                <a:spcPts val="5532"/>
              </a:lnSpc>
            </a:pPr>
            <a:r>
              <a:rPr lang="en-US" sz="5532" spc="-287">
                <a:solidFill>
                  <a:srgbClr val="222223"/>
                </a:solidFill>
                <a:latin typeface="Helvetica World"/>
                <a:ea typeface="Helvetica World"/>
                <a:cs typeface="Helvetica World"/>
                <a:sym typeface="Helvetica World"/>
              </a:rPr>
              <a:t>Making Retirement Decisions Clearer &amp; Smarter</a:t>
            </a:r>
          </a:p>
        </p:txBody>
      </p:sp>
      <p:sp>
        <p:nvSpPr>
          <p:cNvPr name="TextBox 8" id="8"/>
          <p:cNvSpPr txBox="true"/>
          <p:nvPr/>
        </p:nvSpPr>
        <p:spPr>
          <a:xfrm rot="0">
            <a:off x="1045163" y="650408"/>
            <a:ext cx="2457313" cy="506192"/>
          </a:xfrm>
          <a:prstGeom prst="rect">
            <a:avLst/>
          </a:prstGeom>
        </p:spPr>
        <p:txBody>
          <a:bodyPr anchor="t" rtlCol="false" tIns="0" lIns="0" bIns="0" rIns="0">
            <a:spAutoFit/>
          </a:bodyPr>
          <a:lstStyle/>
          <a:p>
            <a:pPr algn="l" marL="0" indent="0" lvl="0">
              <a:lnSpc>
                <a:spcPts val="4124"/>
              </a:lnSpc>
            </a:pPr>
            <a:r>
              <a:rPr lang="en-US" b="true" sz="2946" spc="-138">
                <a:solidFill>
                  <a:srgbClr val="424242"/>
                </a:solidFill>
                <a:latin typeface="Open Sauce Bold"/>
                <a:ea typeface="Open Sauce Bold"/>
                <a:cs typeface="Open Sauce Bold"/>
                <a:sym typeface="Open Sauce Bold"/>
              </a:rPr>
              <a:t>RetireWise AI</a:t>
            </a:r>
          </a:p>
        </p:txBody>
      </p:sp>
      <p:sp>
        <p:nvSpPr>
          <p:cNvPr name="TextBox 9" id="9"/>
          <p:cNvSpPr txBox="true"/>
          <p:nvPr/>
        </p:nvSpPr>
        <p:spPr>
          <a:xfrm rot="0">
            <a:off x="13809146" y="8652043"/>
            <a:ext cx="3450154" cy="253568"/>
          </a:xfrm>
          <a:prstGeom prst="rect">
            <a:avLst/>
          </a:prstGeom>
        </p:spPr>
        <p:txBody>
          <a:bodyPr anchor="t" rtlCol="false" tIns="0" lIns="0" bIns="0" rIns="0">
            <a:spAutoFit/>
          </a:bodyPr>
          <a:lstStyle/>
          <a:p>
            <a:pPr algn="r" marL="0" indent="0" lvl="0">
              <a:lnSpc>
                <a:spcPts val="2171"/>
              </a:lnSpc>
            </a:pPr>
            <a:r>
              <a:rPr lang="en-US" b="true" sz="1723" spc="-96">
                <a:solidFill>
                  <a:srgbClr val="424242"/>
                </a:solidFill>
                <a:latin typeface="Open Sauce Bold"/>
                <a:ea typeface="Open Sauce Bold"/>
                <a:cs typeface="Open Sauce Bold"/>
                <a:sym typeface="Open Sauce Bold"/>
              </a:rPr>
              <a:t>Presented by :</a:t>
            </a:r>
          </a:p>
        </p:txBody>
      </p:sp>
      <p:sp>
        <p:nvSpPr>
          <p:cNvPr name="TextBox 10" id="10"/>
          <p:cNvSpPr txBox="true"/>
          <p:nvPr/>
        </p:nvSpPr>
        <p:spPr>
          <a:xfrm rot="0">
            <a:off x="13809146" y="8949690"/>
            <a:ext cx="3450154" cy="299734"/>
          </a:xfrm>
          <a:prstGeom prst="rect">
            <a:avLst/>
          </a:prstGeom>
        </p:spPr>
        <p:txBody>
          <a:bodyPr anchor="t" rtlCol="false" tIns="0" lIns="0" bIns="0" rIns="0">
            <a:spAutoFit/>
          </a:bodyPr>
          <a:lstStyle/>
          <a:p>
            <a:pPr algn="r" marL="0" indent="0" lvl="0">
              <a:lnSpc>
                <a:spcPts val="2412"/>
              </a:lnSpc>
            </a:pPr>
            <a:r>
              <a:rPr lang="en-US" sz="1914" spc="-107">
                <a:solidFill>
                  <a:srgbClr val="424242"/>
                </a:solidFill>
                <a:latin typeface="Open Sauce"/>
                <a:ea typeface="Open Sauce"/>
                <a:cs typeface="Open Sauce"/>
                <a:sym typeface="Open Sauce"/>
              </a:rPr>
              <a:t>AI-Powered WealthTech Platform</a:t>
            </a:r>
          </a:p>
        </p:txBody>
      </p:sp>
      <p:grpSp>
        <p:nvGrpSpPr>
          <p:cNvPr name="Group 11" id="11"/>
          <p:cNvGrpSpPr/>
          <p:nvPr/>
        </p:nvGrpSpPr>
        <p:grpSpPr>
          <a:xfrm rot="0">
            <a:off x="15292495" y="717002"/>
            <a:ext cx="1966805" cy="464845"/>
            <a:chOff x="0" y="0"/>
            <a:chExt cx="518006" cy="122428"/>
          </a:xfrm>
        </p:grpSpPr>
        <p:sp>
          <p:nvSpPr>
            <p:cNvPr name="Freeform 12" id="12"/>
            <p:cNvSpPr/>
            <p:nvPr/>
          </p:nvSpPr>
          <p:spPr>
            <a:xfrm flipH="false" flipV="false" rot="0">
              <a:off x="0" y="0"/>
              <a:ext cx="518006" cy="122428"/>
            </a:xfrm>
            <a:custGeom>
              <a:avLst/>
              <a:gdLst/>
              <a:ahLst/>
              <a:cxnLst/>
              <a:rect r="r" b="b" t="t" l="l"/>
              <a:pathLst>
                <a:path h="122428" w="518006">
                  <a:moveTo>
                    <a:pt x="61214" y="0"/>
                  </a:moveTo>
                  <a:lnTo>
                    <a:pt x="456792" y="0"/>
                  </a:lnTo>
                  <a:cubicBezTo>
                    <a:pt x="490600" y="0"/>
                    <a:pt x="518006" y="27406"/>
                    <a:pt x="518006" y="61214"/>
                  </a:cubicBezTo>
                  <a:lnTo>
                    <a:pt x="518006" y="61214"/>
                  </a:lnTo>
                  <a:cubicBezTo>
                    <a:pt x="518006" y="95022"/>
                    <a:pt x="490600" y="122428"/>
                    <a:pt x="456792" y="122428"/>
                  </a:cubicBezTo>
                  <a:lnTo>
                    <a:pt x="61214" y="122428"/>
                  </a:lnTo>
                  <a:cubicBezTo>
                    <a:pt x="27406" y="122428"/>
                    <a:pt x="0" y="95022"/>
                    <a:pt x="0" y="61214"/>
                  </a:cubicBezTo>
                  <a:lnTo>
                    <a:pt x="0" y="61214"/>
                  </a:lnTo>
                  <a:cubicBezTo>
                    <a:pt x="0" y="27406"/>
                    <a:pt x="27406" y="0"/>
                    <a:pt x="61214" y="0"/>
                  </a:cubicBezTo>
                  <a:close/>
                </a:path>
              </a:pathLst>
            </a:custGeom>
            <a:solidFill>
              <a:srgbClr val="593B8A"/>
            </a:solidFill>
            <a:ln w="19050" cap="rnd">
              <a:solidFill>
                <a:srgbClr val="29241F"/>
              </a:solidFill>
              <a:prstDash val="solid"/>
              <a:round/>
            </a:ln>
          </p:spPr>
        </p:sp>
        <p:sp>
          <p:nvSpPr>
            <p:cNvPr name="TextBox 13" id="13"/>
            <p:cNvSpPr txBox="true"/>
            <p:nvPr/>
          </p:nvSpPr>
          <p:spPr>
            <a:xfrm>
              <a:off x="0" y="-38100"/>
              <a:ext cx="518006" cy="160528"/>
            </a:xfrm>
            <a:prstGeom prst="rect">
              <a:avLst/>
            </a:prstGeom>
          </p:spPr>
          <p:txBody>
            <a:bodyPr anchor="ctr" rtlCol="false" tIns="50800" lIns="50800" bIns="50800" rIns="50800"/>
            <a:lstStyle/>
            <a:p>
              <a:pPr algn="ctr" marL="0" indent="0" lvl="0">
                <a:lnSpc>
                  <a:spcPts val="2741"/>
                </a:lnSpc>
              </a:pPr>
            </a:p>
          </p:txBody>
        </p:sp>
      </p:grpSp>
      <p:sp>
        <p:nvSpPr>
          <p:cNvPr name="TextBox 14" id="14"/>
          <p:cNvSpPr txBox="true"/>
          <p:nvPr/>
        </p:nvSpPr>
        <p:spPr>
          <a:xfrm rot="0">
            <a:off x="15292495" y="810781"/>
            <a:ext cx="1966805" cy="240764"/>
          </a:xfrm>
          <a:prstGeom prst="rect">
            <a:avLst/>
          </a:prstGeom>
        </p:spPr>
        <p:txBody>
          <a:bodyPr anchor="t" rtlCol="false" tIns="0" lIns="0" bIns="0" rIns="0">
            <a:spAutoFit/>
          </a:bodyPr>
          <a:lstStyle/>
          <a:p>
            <a:pPr algn="ctr" marL="0" indent="0" lvl="0">
              <a:lnSpc>
                <a:spcPts val="1954"/>
              </a:lnSpc>
              <a:spcBef>
                <a:spcPct val="0"/>
              </a:spcBef>
            </a:pPr>
            <a:r>
              <a:rPr lang="en-US" sz="1396" spc="-72">
                <a:solidFill>
                  <a:srgbClr val="FFFFFF"/>
                </a:solidFill>
                <a:latin typeface="Inter"/>
                <a:ea typeface="Inter"/>
                <a:cs typeface="Inter"/>
                <a:sym typeface="Inter"/>
              </a:rPr>
              <a:t>June 11, 2025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EF9"/>
        </a:solidFill>
      </p:bgPr>
    </p:bg>
    <p:spTree>
      <p:nvGrpSpPr>
        <p:cNvPr id="1" name=""/>
        <p:cNvGrpSpPr/>
        <p:nvPr/>
      </p:nvGrpSpPr>
      <p:grpSpPr>
        <a:xfrm>
          <a:off x="0" y="0"/>
          <a:ext cx="0" cy="0"/>
          <a:chOff x="0" y="0"/>
          <a:chExt cx="0" cy="0"/>
        </a:xfrm>
      </p:grpSpPr>
      <p:sp>
        <p:nvSpPr>
          <p:cNvPr name="AutoShape 2" id="2"/>
          <p:cNvSpPr/>
          <p:nvPr/>
        </p:nvSpPr>
        <p:spPr>
          <a:xfrm>
            <a:off x="1045163" y="1411559"/>
            <a:ext cx="16214137" cy="0"/>
          </a:xfrm>
          <a:prstGeom prst="line">
            <a:avLst/>
          </a:prstGeom>
          <a:ln cap="flat" w="19050">
            <a:solidFill>
              <a:srgbClr val="424242"/>
            </a:solidFill>
            <a:prstDash val="solid"/>
            <a:headEnd type="none" len="sm" w="sm"/>
            <a:tailEnd type="none" len="sm" w="sm"/>
          </a:ln>
        </p:spPr>
      </p:sp>
      <p:sp>
        <p:nvSpPr>
          <p:cNvPr name="Freeform 3" id="3"/>
          <p:cNvSpPr/>
          <p:nvPr/>
        </p:nvSpPr>
        <p:spPr>
          <a:xfrm flipH="false" flipV="false" rot="-699989">
            <a:off x="8352473" y="4652140"/>
            <a:ext cx="12899683" cy="8326159"/>
          </a:xfrm>
          <a:custGeom>
            <a:avLst/>
            <a:gdLst/>
            <a:ahLst/>
            <a:cxnLst/>
            <a:rect r="r" b="b" t="t" l="l"/>
            <a:pathLst>
              <a:path h="8326159" w="12899683">
                <a:moveTo>
                  <a:pt x="0" y="0"/>
                </a:moveTo>
                <a:lnTo>
                  <a:pt x="12899683" y="0"/>
                </a:lnTo>
                <a:lnTo>
                  <a:pt x="12899683" y="8326159"/>
                </a:lnTo>
                <a:lnTo>
                  <a:pt x="0" y="8326159"/>
                </a:lnTo>
                <a:lnTo>
                  <a:pt x="0" y="0"/>
                </a:lnTo>
                <a:close/>
              </a:path>
            </a:pathLst>
          </a:custGeom>
          <a:blipFill>
            <a:blip r:embed="rId2">
              <a:alphaModFix amt="31999"/>
            </a:blip>
            <a:stretch>
              <a:fillRect l="0" t="0" r="0" b="0"/>
            </a:stretch>
          </a:blipFill>
        </p:spPr>
      </p:sp>
      <p:sp>
        <p:nvSpPr>
          <p:cNvPr name="Freeform 4" id="4"/>
          <p:cNvSpPr/>
          <p:nvPr/>
        </p:nvSpPr>
        <p:spPr>
          <a:xfrm flipH="true" flipV="false" rot="4113877">
            <a:off x="-1571649" y="-2208254"/>
            <a:ext cx="7690935" cy="8229600"/>
          </a:xfrm>
          <a:custGeom>
            <a:avLst/>
            <a:gdLst/>
            <a:ahLst/>
            <a:cxnLst/>
            <a:rect r="r" b="b" t="t" l="l"/>
            <a:pathLst>
              <a:path h="8229600" w="7690935">
                <a:moveTo>
                  <a:pt x="7690936" y="0"/>
                </a:moveTo>
                <a:lnTo>
                  <a:pt x="0" y="0"/>
                </a:lnTo>
                <a:lnTo>
                  <a:pt x="0" y="8229600"/>
                </a:lnTo>
                <a:lnTo>
                  <a:pt x="7690936" y="8229600"/>
                </a:lnTo>
                <a:lnTo>
                  <a:pt x="7690936" y="0"/>
                </a:lnTo>
                <a:close/>
              </a:path>
            </a:pathLst>
          </a:custGeom>
          <a:blipFill>
            <a:blip r:embed="rId3">
              <a:alphaModFix amt="24000"/>
            </a:blip>
            <a:stretch>
              <a:fillRect l="0" t="0" r="0" b="0"/>
            </a:stretch>
          </a:blipFill>
        </p:spPr>
      </p:sp>
      <p:grpSp>
        <p:nvGrpSpPr>
          <p:cNvPr name="Group 5" id="5"/>
          <p:cNvGrpSpPr/>
          <p:nvPr/>
        </p:nvGrpSpPr>
        <p:grpSpPr>
          <a:xfrm rot="0">
            <a:off x="15292495" y="717002"/>
            <a:ext cx="1966805" cy="464845"/>
            <a:chOff x="0" y="0"/>
            <a:chExt cx="518006" cy="122428"/>
          </a:xfrm>
        </p:grpSpPr>
        <p:sp>
          <p:nvSpPr>
            <p:cNvPr name="Freeform 6" id="6"/>
            <p:cNvSpPr/>
            <p:nvPr/>
          </p:nvSpPr>
          <p:spPr>
            <a:xfrm flipH="false" flipV="false" rot="0">
              <a:off x="0" y="0"/>
              <a:ext cx="518006" cy="122428"/>
            </a:xfrm>
            <a:custGeom>
              <a:avLst/>
              <a:gdLst/>
              <a:ahLst/>
              <a:cxnLst/>
              <a:rect r="r" b="b" t="t" l="l"/>
              <a:pathLst>
                <a:path h="122428" w="518006">
                  <a:moveTo>
                    <a:pt x="61214" y="0"/>
                  </a:moveTo>
                  <a:lnTo>
                    <a:pt x="456792" y="0"/>
                  </a:lnTo>
                  <a:cubicBezTo>
                    <a:pt x="490600" y="0"/>
                    <a:pt x="518006" y="27406"/>
                    <a:pt x="518006" y="61214"/>
                  </a:cubicBezTo>
                  <a:lnTo>
                    <a:pt x="518006" y="61214"/>
                  </a:lnTo>
                  <a:cubicBezTo>
                    <a:pt x="518006" y="95022"/>
                    <a:pt x="490600" y="122428"/>
                    <a:pt x="456792" y="122428"/>
                  </a:cubicBezTo>
                  <a:lnTo>
                    <a:pt x="61214" y="122428"/>
                  </a:lnTo>
                  <a:cubicBezTo>
                    <a:pt x="27406" y="122428"/>
                    <a:pt x="0" y="95022"/>
                    <a:pt x="0" y="61214"/>
                  </a:cubicBezTo>
                  <a:lnTo>
                    <a:pt x="0" y="61214"/>
                  </a:lnTo>
                  <a:cubicBezTo>
                    <a:pt x="0" y="27406"/>
                    <a:pt x="27406" y="0"/>
                    <a:pt x="61214" y="0"/>
                  </a:cubicBezTo>
                  <a:close/>
                </a:path>
              </a:pathLst>
            </a:custGeom>
            <a:solidFill>
              <a:srgbClr val="593B8A"/>
            </a:solidFill>
            <a:ln w="19050" cap="rnd">
              <a:solidFill>
                <a:srgbClr val="29241F"/>
              </a:solidFill>
              <a:prstDash val="solid"/>
              <a:round/>
            </a:ln>
          </p:spPr>
        </p:sp>
        <p:sp>
          <p:nvSpPr>
            <p:cNvPr name="TextBox 7" id="7"/>
            <p:cNvSpPr txBox="true"/>
            <p:nvPr/>
          </p:nvSpPr>
          <p:spPr>
            <a:xfrm>
              <a:off x="0" y="-38100"/>
              <a:ext cx="518006" cy="160528"/>
            </a:xfrm>
            <a:prstGeom prst="rect">
              <a:avLst/>
            </a:prstGeom>
          </p:spPr>
          <p:txBody>
            <a:bodyPr anchor="ctr" rtlCol="false" tIns="50800" lIns="50800" bIns="50800" rIns="50800"/>
            <a:lstStyle/>
            <a:p>
              <a:pPr algn="ctr" marL="0" indent="0" lvl="0">
                <a:lnSpc>
                  <a:spcPts val="2741"/>
                </a:lnSpc>
              </a:pPr>
            </a:p>
          </p:txBody>
        </p:sp>
      </p:grpSp>
      <p:grpSp>
        <p:nvGrpSpPr>
          <p:cNvPr name="Group 8" id="8"/>
          <p:cNvGrpSpPr/>
          <p:nvPr/>
        </p:nvGrpSpPr>
        <p:grpSpPr>
          <a:xfrm rot="0">
            <a:off x="1028700" y="1906546"/>
            <a:ext cx="4918564" cy="4593896"/>
            <a:chOff x="0" y="0"/>
            <a:chExt cx="1295424" cy="1209915"/>
          </a:xfrm>
        </p:grpSpPr>
        <p:sp>
          <p:nvSpPr>
            <p:cNvPr name="Freeform 9" id="9"/>
            <p:cNvSpPr/>
            <p:nvPr/>
          </p:nvSpPr>
          <p:spPr>
            <a:xfrm flipH="false" flipV="false" rot="0">
              <a:off x="0" y="0"/>
              <a:ext cx="1295424" cy="1209915"/>
            </a:xfrm>
            <a:custGeom>
              <a:avLst/>
              <a:gdLst/>
              <a:ahLst/>
              <a:cxnLst/>
              <a:rect r="r" b="b" t="t" l="l"/>
              <a:pathLst>
                <a:path h="1209915" w="1295424">
                  <a:moveTo>
                    <a:pt x="78701" y="0"/>
                  </a:moveTo>
                  <a:lnTo>
                    <a:pt x="1216723" y="0"/>
                  </a:lnTo>
                  <a:cubicBezTo>
                    <a:pt x="1260188" y="0"/>
                    <a:pt x="1295424" y="35236"/>
                    <a:pt x="1295424" y="78701"/>
                  </a:cubicBezTo>
                  <a:lnTo>
                    <a:pt x="1295424" y="1131214"/>
                  </a:lnTo>
                  <a:cubicBezTo>
                    <a:pt x="1295424" y="1174679"/>
                    <a:pt x="1260188" y="1209915"/>
                    <a:pt x="1216723" y="1209915"/>
                  </a:cubicBezTo>
                  <a:lnTo>
                    <a:pt x="78701" y="1209915"/>
                  </a:lnTo>
                  <a:cubicBezTo>
                    <a:pt x="35236" y="1209915"/>
                    <a:pt x="0" y="1174679"/>
                    <a:pt x="0" y="1131214"/>
                  </a:cubicBezTo>
                  <a:lnTo>
                    <a:pt x="0" y="78701"/>
                  </a:lnTo>
                  <a:cubicBezTo>
                    <a:pt x="0" y="35236"/>
                    <a:pt x="35236" y="0"/>
                    <a:pt x="78701" y="0"/>
                  </a:cubicBezTo>
                  <a:close/>
                </a:path>
              </a:pathLst>
            </a:custGeom>
            <a:gradFill rotWithShape="true">
              <a:gsLst>
                <a:gs pos="0">
                  <a:srgbClr val="593B8A">
                    <a:alpha val="100000"/>
                  </a:srgbClr>
                </a:gs>
                <a:gs pos="100000">
                  <a:srgbClr val="A07DD8">
                    <a:alpha val="100000"/>
                  </a:srgbClr>
                </a:gs>
              </a:gsLst>
              <a:lin ang="5400000"/>
            </a:gradFill>
            <a:ln w="19050" cap="rnd">
              <a:solidFill>
                <a:srgbClr val="000000"/>
              </a:solidFill>
              <a:prstDash val="solid"/>
              <a:round/>
            </a:ln>
          </p:spPr>
        </p:sp>
        <p:sp>
          <p:nvSpPr>
            <p:cNvPr name="TextBox 10" id="10"/>
            <p:cNvSpPr txBox="true"/>
            <p:nvPr/>
          </p:nvSpPr>
          <p:spPr>
            <a:xfrm>
              <a:off x="0" y="-38100"/>
              <a:ext cx="1295424" cy="1248015"/>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6305670" y="1906546"/>
            <a:ext cx="4918564" cy="4593896"/>
            <a:chOff x="0" y="0"/>
            <a:chExt cx="1295424" cy="1209915"/>
          </a:xfrm>
        </p:grpSpPr>
        <p:sp>
          <p:nvSpPr>
            <p:cNvPr name="Freeform 12" id="12"/>
            <p:cNvSpPr/>
            <p:nvPr/>
          </p:nvSpPr>
          <p:spPr>
            <a:xfrm flipH="false" flipV="false" rot="0">
              <a:off x="0" y="0"/>
              <a:ext cx="1295424" cy="1209915"/>
            </a:xfrm>
            <a:custGeom>
              <a:avLst/>
              <a:gdLst/>
              <a:ahLst/>
              <a:cxnLst/>
              <a:rect r="r" b="b" t="t" l="l"/>
              <a:pathLst>
                <a:path h="1209915" w="1295424">
                  <a:moveTo>
                    <a:pt x="78701" y="0"/>
                  </a:moveTo>
                  <a:lnTo>
                    <a:pt x="1216723" y="0"/>
                  </a:lnTo>
                  <a:cubicBezTo>
                    <a:pt x="1260188" y="0"/>
                    <a:pt x="1295424" y="35236"/>
                    <a:pt x="1295424" y="78701"/>
                  </a:cubicBezTo>
                  <a:lnTo>
                    <a:pt x="1295424" y="1131214"/>
                  </a:lnTo>
                  <a:cubicBezTo>
                    <a:pt x="1295424" y="1174679"/>
                    <a:pt x="1260188" y="1209915"/>
                    <a:pt x="1216723" y="1209915"/>
                  </a:cubicBezTo>
                  <a:lnTo>
                    <a:pt x="78701" y="1209915"/>
                  </a:lnTo>
                  <a:cubicBezTo>
                    <a:pt x="35236" y="1209915"/>
                    <a:pt x="0" y="1174679"/>
                    <a:pt x="0" y="1131214"/>
                  </a:cubicBezTo>
                  <a:lnTo>
                    <a:pt x="0" y="78701"/>
                  </a:lnTo>
                  <a:cubicBezTo>
                    <a:pt x="0" y="35236"/>
                    <a:pt x="35236" y="0"/>
                    <a:pt x="78701" y="0"/>
                  </a:cubicBezTo>
                  <a:close/>
                </a:path>
              </a:pathLst>
            </a:custGeom>
            <a:gradFill rotWithShape="true">
              <a:gsLst>
                <a:gs pos="0">
                  <a:srgbClr val="593B8A">
                    <a:alpha val="100000"/>
                  </a:srgbClr>
                </a:gs>
                <a:gs pos="100000">
                  <a:srgbClr val="A07DD8">
                    <a:alpha val="100000"/>
                  </a:srgbClr>
                </a:gs>
              </a:gsLst>
              <a:lin ang="5400000"/>
            </a:gradFill>
            <a:ln w="19050" cap="rnd">
              <a:solidFill>
                <a:srgbClr val="000000"/>
              </a:solidFill>
              <a:prstDash val="solid"/>
              <a:round/>
            </a:ln>
          </p:spPr>
        </p:sp>
        <p:sp>
          <p:nvSpPr>
            <p:cNvPr name="TextBox 13" id="13"/>
            <p:cNvSpPr txBox="true"/>
            <p:nvPr/>
          </p:nvSpPr>
          <p:spPr>
            <a:xfrm>
              <a:off x="0" y="-38100"/>
              <a:ext cx="1295424" cy="1248015"/>
            </a:xfrm>
            <a:prstGeom prst="rect">
              <a:avLst/>
            </a:prstGeom>
          </p:spPr>
          <p:txBody>
            <a:bodyPr anchor="ctr" rtlCol="false" tIns="50800" lIns="50800" bIns="50800" rIns="50800"/>
            <a:lstStyle/>
            <a:p>
              <a:pPr algn="ctr" marL="0" indent="0" lvl="0">
                <a:lnSpc>
                  <a:spcPts val="2659"/>
                </a:lnSpc>
              </a:pPr>
            </a:p>
          </p:txBody>
        </p:sp>
      </p:grpSp>
      <p:grpSp>
        <p:nvGrpSpPr>
          <p:cNvPr name="Group 14" id="14"/>
          <p:cNvGrpSpPr/>
          <p:nvPr/>
        </p:nvGrpSpPr>
        <p:grpSpPr>
          <a:xfrm rot="0">
            <a:off x="11586184" y="1906546"/>
            <a:ext cx="5673116" cy="4593896"/>
            <a:chOff x="0" y="0"/>
            <a:chExt cx="1592866" cy="1289848"/>
          </a:xfrm>
        </p:grpSpPr>
        <p:sp>
          <p:nvSpPr>
            <p:cNvPr name="Freeform 15" id="15"/>
            <p:cNvSpPr/>
            <p:nvPr/>
          </p:nvSpPr>
          <p:spPr>
            <a:xfrm flipH="false" flipV="false" rot="0">
              <a:off x="0" y="0"/>
              <a:ext cx="1592866" cy="1289848"/>
            </a:xfrm>
            <a:custGeom>
              <a:avLst/>
              <a:gdLst/>
              <a:ahLst/>
              <a:cxnLst/>
              <a:rect r="r" b="b" t="t" l="l"/>
              <a:pathLst>
                <a:path h="1289848" w="1592866">
                  <a:moveTo>
                    <a:pt x="31387" y="0"/>
                  </a:moveTo>
                  <a:lnTo>
                    <a:pt x="1561479" y="0"/>
                  </a:lnTo>
                  <a:cubicBezTo>
                    <a:pt x="1569803" y="0"/>
                    <a:pt x="1577786" y="3307"/>
                    <a:pt x="1583673" y="9193"/>
                  </a:cubicBezTo>
                  <a:cubicBezTo>
                    <a:pt x="1589559" y="15079"/>
                    <a:pt x="1592866" y="23063"/>
                    <a:pt x="1592866" y="31387"/>
                  </a:cubicBezTo>
                  <a:lnTo>
                    <a:pt x="1592866" y="1258461"/>
                  </a:lnTo>
                  <a:cubicBezTo>
                    <a:pt x="1592866" y="1266786"/>
                    <a:pt x="1589559" y="1274769"/>
                    <a:pt x="1583673" y="1280655"/>
                  </a:cubicBezTo>
                  <a:cubicBezTo>
                    <a:pt x="1577786" y="1286542"/>
                    <a:pt x="1569803" y="1289848"/>
                    <a:pt x="1561479" y="1289848"/>
                  </a:cubicBezTo>
                  <a:lnTo>
                    <a:pt x="31387" y="1289848"/>
                  </a:lnTo>
                  <a:cubicBezTo>
                    <a:pt x="23063" y="1289848"/>
                    <a:pt x="15079" y="1286542"/>
                    <a:pt x="9193" y="1280655"/>
                  </a:cubicBezTo>
                  <a:cubicBezTo>
                    <a:pt x="3307" y="1274769"/>
                    <a:pt x="0" y="1266786"/>
                    <a:pt x="0" y="1258461"/>
                  </a:cubicBezTo>
                  <a:lnTo>
                    <a:pt x="0" y="31387"/>
                  </a:lnTo>
                  <a:cubicBezTo>
                    <a:pt x="0" y="23063"/>
                    <a:pt x="3307" y="15079"/>
                    <a:pt x="9193" y="9193"/>
                  </a:cubicBezTo>
                  <a:cubicBezTo>
                    <a:pt x="15079" y="3307"/>
                    <a:pt x="23063" y="0"/>
                    <a:pt x="31387" y="0"/>
                  </a:cubicBezTo>
                  <a:close/>
                </a:path>
              </a:pathLst>
            </a:custGeom>
            <a:blipFill>
              <a:blip r:embed="rId4"/>
              <a:stretch>
                <a:fillRect l="-296" t="0" r="-296" b="0"/>
              </a:stretch>
            </a:blipFill>
            <a:ln w="19050" cap="rnd">
              <a:solidFill>
                <a:srgbClr val="000000"/>
              </a:solidFill>
              <a:prstDash val="solid"/>
              <a:round/>
            </a:ln>
          </p:spPr>
        </p:sp>
      </p:grpSp>
      <p:sp>
        <p:nvSpPr>
          <p:cNvPr name="TextBox 16" id="16"/>
          <p:cNvSpPr txBox="true"/>
          <p:nvPr/>
        </p:nvSpPr>
        <p:spPr>
          <a:xfrm rot="0">
            <a:off x="1028700" y="7586381"/>
            <a:ext cx="9837127" cy="1690766"/>
          </a:xfrm>
          <a:prstGeom prst="rect">
            <a:avLst/>
          </a:prstGeom>
        </p:spPr>
        <p:txBody>
          <a:bodyPr anchor="t" rtlCol="false" tIns="0" lIns="0" bIns="0" rIns="0">
            <a:spAutoFit/>
          </a:bodyPr>
          <a:lstStyle/>
          <a:p>
            <a:pPr algn="l" marL="0" indent="0" lvl="0">
              <a:lnSpc>
                <a:spcPts val="11440"/>
              </a:lnSpc>
            </a:pPr>
            <a:r>
              <a:rPr lang="en-US" b="true" sz="11440" spc="-594">
                <a:solidFill>
                  <a:srgbClr val="222223"/>
                </a:solidFill>
                <a:latin typeface="Helvetica World Bold"/>
                <a:ea typeface="Helvetica World Bold"/>
                <a:cs typeface="Helvetica World Bold"/>
                <a:sym typeface="Helvetica World Bold"/>
              </a:rPr>
              <a:t>The Problem</a:t>
            </a:r>
          </a:p>
        </p:txBody>
      </p:sp>
      <p:sp>
        <p:nvSpPr>
          <p:cNvPr name="TextBox 17" id="17"/>
          <p:cNvSpPr txBox="true"/>
          <p:nvPr/>
        </p:nvSpPr>
        <p:spPr>
          <a:xfrm rot="0">
            <a:off x="1483739" y="2441245"/>
            <a:ext cx="4037472" cy="507659"/>
          </a:xfrm>
          <a:prstGeom prst="rect">
            <a:avLst/>
          </a:prstGeom>
        </p:spPr>
        <p:txBody>
          <a:bodyPr anchor="t" rtlCol="false" tIns="0" lIns="0" bIns="0" rIns="0">
            <a:spAutoFit/>
          </a:bodyPr>
          <a:lstStyle/>
          <a:p>
            <a:pPr algn="l" marL="0" indent="0" lvl="0">
              <a:lnSpc>
                <a:spcPts val="3486"/>
              </a:lnSpc>
            </a:pPr>
            <a:r>
              <a:rPr lang="en-US" b="true" sz="3486" spc="-181">
                <a:solidFill>
                  <a:srgbClr val="FFFFFF"/>
                </a:solidFill>
                <a:latin typeface="Helvetica World Bold"/>
                <a:ea typeface="Helvetica World Bold"/>
                <a:cs typeface="Helvetica World Bold"/>
                <a:sym typeface="Helvetica World Bold"/>
              </a:rPr>
              <a:t>Savings Gap</a:t>
            </a:r>
          </a:p>
        </p:txBody>
      </p:sp>
      <p:sp>
        <p:nvSpPr>
          <p:cNvPr name="TextBox 18" id="18"/>
          <p:cNvSpPr txBox="true"/>
          <p:nvPr/>
        </p:nvSpPr>
        <p:spPr>
          <a:xfrm rot="0">
            <a:off x="6760710" y="2441245"/>
            <a:ext cx="4037472" cy="507659"/>
          </a:xfrm>
          <a:prstGeom prst="rect">
            <a:avLst/>
          </a:prstGeom>
        </p:spPr>
        <p:txBody>
          <a:bodyPr anchor="t" rtlCol="false" tIns="0" lIns="0" bIns="0" rIns="0">
            <a:spAutoFit/>
          </a:bodyPr>
          <a:lstStyle/>
          <a:p>
            <a:pPr algn="l" marL="0" indent="0" lvl="0">
              <a:lnSpc>
                <a:spcPts val="3486"/>
              </a:lnSpc>
            </a:pPr>
            <a:r>
              <a:rPr lang="en-US" b="true" sz="3486" spc="-181">
                <a:solidFill>
                  <a:srgbClr val="FFFFFF"/>
                </a:solidFill>
                <a:latin typeface="Helvetica World Bold"/>
                <a:ea typeface="Helvetica World Bold"/>
                <a:cs typeface="Helvetica World Bold"/>
                <a:sym typeface="Helvetica World Bold"/>
              </a:rPr>
              <a:t>Hidden Risks</a:t>
            </a:r>
          </a:p>
        </p:txBody>
      </p:sp>
      <p:sp>
        <p:nvSpPr>
          <p:cNvPr name="TextBox 19" id="19"/>
          <p:cNvSpPr txBox="true"/>
          <p:nvPr/>
        </p:nvSpPr>
        <p:spPr>
          <a:xfrm rot="0">
            <a:off x="1045163" y="650408"/>
            <a:ext cx="2457313" cy="531494"/>
          </a:xfrm>
          <a:prstGeom prst="rect">
            <a:avLst/>
          </a:prstGeom>
        </p:spPr>
        <p:txBody>
          <a:bodyPr anchor="t" rtlCol="false" tIns="0" lIns="0" bIns="0" rIns="0">
            <a:spAutoFit/>
          </a:bodyPr>
          <a:lstStyle/>
          <a:p>
            <a:pPr algn="l" marL="0" indent="0" lvl="0">
              <a:lnSpc>
                <a:spcPts val="4305"/>
              </a:lnSpc>
            </a:pPr>
            <a:r>
              <a:rPr lang="en-US" b="true" sz="3075" spc="-144">
                <a:solidFill>
                  <a:srgbClr val="424242"/>
                </a:solidFill>
                <a:latin typeface="Open Sauce Bold"/>
                <a:ea typeface="Open Sauce Bold"/>
                <a:cs typeface="Open Sauce Bold"/>
                <a:sym typeface="Open Sauce Bold"/>
              </a:rPr>
              <a:t>RetireWise AI</a:t>
            </a:r>
          </a:p>
        </p:txBody>
      </p:sp>
      <p:sp>
        <p:nvSpPr>
          <p:cNvPr name="TextBox 20" id="20"/>
          <p:cNvSpPr txBox="true"/>
          <p:nvPr/>
        </p:nvSpPr>
        <p:spPr>
          <a:xfrm rot="0">
            <a:off x="15292495" y="810781"/>
            <a:ext cx="1966805" cy="248738"/>
          </a:xfrm>
          <a:prstGeom prst="rect">
            <a:avLst/>
          </a:prstGeom>
        </p:spPr>
        <p:txBody>
          <a:bodyPr anchor="t" rtlCol="false" tIns="0" lIns="0" bIns="0" rIns="0">
            <a:spAutoFit/>
          </a:bodyPr>
          <a:lstStyle/>
          <a:p>
            <a:pPr algn="ctr" marL="0" indent="0" lvl="0">
              <a:lnSpc>
                <a:spcPts val="2040"/>
              </a:lnSpc>
              <a:spcBef>
                <a:spcPct val="0"/>
              </a:spcBef>
            </a:pPr>
            <a:r>
              <a:rPr lang="en-US" sz="1457" spc="-75">
                <a:solidFill>
                  <a:srgbClr val="FFFFFF"/>
                </a:solidFill>
                <a:latin typeface="Inter"/>
                <a:ea typeface="Inter"/>
                <a:cs typeface="Inter"/>
                <a:sym typeface="Inter"/>
              </a:rPr>
              <a:t>June 11, 2025</a:t>
            </a:r>
          </a:p>
        </p:txBody>
      </p:sp>
      <p:sp>
        <p:nvSpPr>
          <p:cNvPr name="TextBox 21" id="21"/>
          <p:cNvSpPr txBox="true"/>
          <p:nvPr/>
        </p:nvSpPr>
        <p:spPr>
          <a:xfrm rot="0">
            <a:off x="9486573" y="7508875"/>
            <a:ext cx="7772727" cy="1397036"/>
          </a:xfrm>
          <a:prstGeom prst="rect">
            <a:avLst/>
          </a:prstGeom>
        </p:spPr>
        <p:txBody>
          <a:bodyPr anchor="t" rtlCol="false" tIns="0" lIns="0" bIns="0" rIns="0">
            <a:spAutoFit/>
          </a:bodyPr>
          <a:lstStyle/>
          <a:p>
            <a:pPr algn="l" marL="0" indent="0" lvl="0">
              <a:lnSpc>
                <a:spcPts val="2798"/>
              </a:lnSpc>
            </a:pPr>
            <a:r>
              <a:rPr lang="en-US" sz="1998" spc="-79">
                <a:solidFill>
                  <a:srgbClr val="393939"/>
                </a:solidFill>
                <a:latin typeface="DM Sans"/>
                <a:ea typeface="DM Sans"/>
                <a:cs typeface="DM Sans"/>
                <a:sym typeface="DM Sans"/>
              </a:rPr>
              <a:t>Retirees face a critical decision gap: accumulating a lump sum is only the beginning. Without clear, personalised guidance, even large savings can be depleted too quickly — leaving retirees financially vulnerable exactly when they can least afford it.</a:t>
            </a:r>
          </a:p>
        </p:txBody>
      </p:sp>
      <p:sp>
        <p:nvSpPr>
          <p:cNvPr name="TextBox 22" id="22"/>
          <p:cNvSpPr txBox="true"/>
          <p:nvPr/>
        </p:nvSpPr>
        <p:spPr>
          <a:xfrm rot="0">
            <a:off x="1483739" y="3211113"/>
            <a:ext cx="4037472" cy="1878362"/>
          </a:xfrm>
          <a:prstGeom prst="rect">
            <a:avLst/>
          </a:prstGeom>
        </p:spPr>
        <p:txBody>
          <a:bodyPr anchor="t" rtlCol="false" tIns="0" lIns="0" bIns="0" rIns="0">
            <a:spAutoFit/>
          </a:bodyPr>
          <a:lstStyle/>
          <a:p>
            <a:pPr algn="l" marL="0" indent="0" lvl="0">
              <a:lnSpc>
                <a:spcPts val="2518"/>
              </a:lnSpc>
            </a:pPr>
            <a:r>
              <a:rPr lang="en-US" sz="1798" spc="-71">
                <a:solidFill>
                  <a:srgbClr val="FFFFFF"/>
                </a:solidFill>
                <a:latin typeface="DM Sans"/>
                <a:ea typeface="DM Sans"/>
                <a:cs typeface="DM Sans"/>
                <a:sym typeface="DM Sans"/>
              </a:rPr>
              <a:t>Large retirement savings but no clear sustainable spending plan. Inflation erodes purchasing power silently. Market downturns can devastate poorly structured portfolios at the worst possible time.</a:t>
            </a:r>
          </a:p>
        </p:txBody>
      </p:sp>
      <p:sp>
        <p:nvSpPr>
          <p:cNvPr name="TextBox 23" id="23"/>
          <p:cNvSpPr txBox="true"/>
          <p:nvPr/>
        </p:nvSpPr>
        <p:spPr>
          <a:xfrm rot="0">
            <a:off x="6760710" y="3211113"/>
            <a:ext cx="4037472" cy="1878362"/>
          </a:xfrm>
          <a:prstGeom prst="rect">
            <a:avLst/>
          </a:prstGeom>
        </p:spPr>
        <p:txBody>
          <a:bodyPr anchor="t" rtlCol="false" tIns="0" lIns="0" bIns="0" rIns="0">
            <a:spAutoFit/>
          </a:bodyPr>
          <a:lstStyle/>
          <a:p>
            <a:pPr algn="l" marL="0" indent="0" lvl="0">
              <a:lnSpc>
                <a:spcPts val="2518"/>
              </a:lnSpc>
            </a:pPr>
            <a:r>
              <a:rPr lang="en-US" sz="1798" spc="-71">
                <a:solidFill>
                  <a:srgbClr val="FFFFFF"/>
                </a:solidFill>
                <a:latin typeface="DM Sans"/>
                <a:ea typeface="DM Sans"/>
                <a:cs typeface="DM Sans"/>
                <a:sym typeface="DM Sans"/>
              </a:rPr>
              <a:t>Unexpected medical and emergency expenses strike without warning. Retirees struggle to judge their own risk tolerance and capacity for loss. Most people cannot assess whether their retirement is truly financially sustainable.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EF9"/>
        </a:solidFill>
      </p:bgPr>
    </p:bg>
    <p:spTree>
      <p:nvGrpSpPr>
        <p:cNvPr id="1" name=""/>
        <p:cNvGrpSpPr/>
        <p:nvPr/>
      </p:nvGrpSpPr>
      <p:grpSpPr>
        <a:xfrm>
          <a:off x="0" y="0"/>
          <a:ext cx="0" cy="0"/>
          <a:chOff x="0" y="0"/>
          <a:chExt cx="0" cy="0"/>
        </a:xfrm>
      </p:grpSpPr>
      <p:sp>
        <p:nvSpPr>
          <p:cNvPr name="AutoShape 2" id="2"/>
          <p:cNvSpPr/>
          <p:nvPr/>
        </p:nvSpPr>
        <p:spPr>
          <a:xfrm>
            <a:off x="1045163" y="1411559"/>
            <a:ext cx="16214137" cy="0"/>
          </a:xfrm>
          <a:prstGeom prst="line">
            <a:avLst/>
          </a:prstGeom>
          <a:ln cap="flat" w="19050">
            <a:solidFill>
              <a:srgbClr val="424242"/>
            </a:solidFill>
            <a:prstDash val="solid"/>
            <a:headEnd type="none" len="sm" w="sm"/>
            <a:tailEnd type="none" len="sm" w="sm"/>
          </a:ln>
        </p:spPr>
      </p:sp>
      <p:sp>
        <p:nvSpPr>
          <p:cNvPr name="Freeform 3" id="3"/>
          <p:cNvSpPr/>
          <p:nvPr/>
        </p:nvSpPr>
        <p:spPr>
          <a:xfrm flipH="false" flipV="false" rot="-699989">
            <a:off x="8352473" y="4652140"/>
            <a:ext cx="12899683" cy="8326159"/>
          </a:xfrm>
          <a:custGeom>
            <a:avLst/>
            <a:gdLst/>
            <a:ahLst/>
            <a:cxnLst/>
            <a:rect r="r" b="b" t="t" l="l"/>
            <a:pathLst>
              <a:path h="8326159" w="12899683">
                <a:moveTo>
                  <a:pt x="0" y="0"/>
                </a:moveTo>
                <a:lnTo>
                  <a:pt x="12899683" y="0"/>
                </a:lnTo>
                <a:lnTo>
                  <a:pt x="12899683" y="8326159"/>
                </a:lnTo>
                <a:lnTo>
                  <a:pt x="0" y="8326159"/>
                </a:lnTo>
                <a:lnTo>
                  <a:pt x="0" y="0"/>
                </a:lnTo>
                <a:close/>
              </a:path>
            </a:pathLst>
          </a:custGeom>
          <a:blipFill>
            <a:blip r:embed="rId2">
              <a:alphaModFix amt="31999"/>
            </a:blip>
            <a:stretch>
              <a:fillRect l="0" t="0" r="0" b="0"/>
            </a:stretch>
          </a:blipFill>
        </p:spPr>
      </p:sp>
      <p:sp>
        <p:nvSpPr>
          <p:cNvPr name="Freeform 4" id="4"/>
          <p:cNvSpPr/>
          <p:nvPr/>
        </p:nvSpPr>
        <p:spPr>
          <a:xfrm flipH="true" flipV="false" rot="4113877">
            <a:off x="-1571649" y="-2208254"/>
            <a:ext cx="7690935" cy="8229600"/>
          </a:xfrm>
          <a:custGeom>
            <a:avLst/>
            <a:gdLst/>
            <a:ahLst/>
            <a:cxnLst/>
            <a:rect r="r" b="b" t="t" l="l"/>
            <a:pathLst>
              <a:path h="8229600" w="7690935">
                <a:moveTo>
                  <a:pt x="7690936" y="0"/>
                </a:moveTo>
                <a:lnTo>
                  <a:pt x="0" y="0"/>
                </a:lnTo>
                <a:lnTo>
                  <a:pt x="0" y="8229600"/>
                </a:lnTo>
                <a:lnTo>
                  <a:pt x="7690936" y="8229600"/>
                </a:lnTo>
                <a:lnTo>
                  <a:pt x="7690936" y="0"/>
                </a:lnTo>
                <a:close/>
              </a:path>
            </a:pathLst>
          </a:custGeom>
          <a:blipFill>
            <a:blip r:embed="rId3">
              <a:alphaModFix amt="24000"/>
            </a:blip>
            <a:stretch>
              <a:fillRect l="0" t="0" r="0" b="0"/>
            </a:stretch>
          </a:blipFill>
        </p:spPr>
      </p:sp>
      <p:grpSp>
        <p:nvGrpSpPr>
          <p:cNvPr name="Group 5" id="5"/>
          <p:cNvGrpSpPr/>
          <p:nvPr/>
        </p:nvGrpSpPr>
        <p:grpSpPr>
          <a:xfrm rot="0">
            <a:off x="15292495" y="717002"/>
            <a:ext cx="1966805" cy="464845"/>
            <a:chOff x="0" y="0"/>
            <a:chExt cx="518006" cy="122428"/>
          </a:xfrm>
        </p:grpSpPr>
        <p:sp>
          <p:nvSpPr>
            <p:cNvPr name="Freeform 6" id="6"/>
            <p:cNvSpPr/>
            <p:nvPr/>
          </p:nvSpPr>
          <p:spPr>
            <a:xfrm flipH="false" flipV="false" rot="0">
              <a:off x="0" y="0"/>
              <a:ext cx="518006" cy="122428"/>
            </a:xfrm>
            <a:custGeom>
              <a:avLst/>
              <a:gdLst/>
              <a:ahLst/>
              <a:cxnLst/>
              <a:rect r="r" b="b" t="t" l="l"/>
              <a:pathLst>
                <a:path h="122428" w="518006">
                  <a:moveTo>
                    <a:pt x="61214" y="0"/>
                  </a:moveTo>
                  <a:lnTo>
                    <a:pt x="456792" y="0"/>
                  </a:lnTo>
                  <a:cubicBezTo>
                    <a:pt x="490600" y="0"/>
                    <a:pt x="518006" y="27406"/>
                    <a:pt x="518006" y="61214"/>
                  </a:cubicBezTo>
                  <a:lnTo>
                    <a:pt x="518006" y="61214"/>
                  </a:lnTo>
                  <a:cubicBezTo>
                    <a:pt x="518006" y="95022"/>
                    <a:pt x="490600" y="122428"/>
                    <a:pt x="456792" y="122428"/>
                  </a:cubicBezTo>
                  <a:lnTo>
                    <a:pt x="61214" y="122428"/>
                  </a:lnTo>
                  <a:cubicBezTo>
                    <a:pt x="27406" y="122428"/>
                    <a:pt x="0" y="95022"/>
                    <a:pt x="0" y="61214"/>
                  </a:cubicBezTo>
                  <a:lnTo>
                    <a:pt x="0" y="61214"/>
                  </a:lnTo>
                  <a:cubicBezTo>
                    <a:pt x="0" y="27406"/>
                    <a:pt x="27406" y="0"/>
                    <a:pt x="61214" y="0"/>
                  </a:cubicBezTo>
                  <a:close/>
                </a:path>
              </a:pathLst>
            </a:custGeom>
            <a:solidFill>
              <a:srgbClr val="593B8A"/>
            </a:solidFill>
            <a:ln w="19050" cap="rnd">
              <a:solidFill>
                <a:srgbClr val="29241F"/>
              </a:solidFill>
              <a:prstDash val="solid"/>
              <a:round/>
            </a:ln>
          </p:spPr>
        </p:sp>
        <p:sp>
          <p:nvSpPr>
            <p:cNvPr name="TextBox 7" id="7"/>
            <p:cNvSpPr txBox="true"/>
            <p:nvPr/>
          </p:nvSpPr>
          <p:spPr>
            <a:xfrm>
              <a:off x="0" y="-38100"/>
              <a:ext cx="518006" cy="160528"/>
            </a:xfrm>
            <a:prstGeom prst="rect">
              <a:avLst/>
            </a:prstGeom>
          </p:spPr>
          <p:txBody>
            <a:bodyPr anchor="ctr" rtlCol="false" tIns="50800" lIns="50800" bIns="50800" rIns="50800"/>
            <a:lstStyle/>
            <a:p>
              <a:pPr algn="ctr" marL="0" indent="0" lvl="0">
                <a:lnSpc>
                  <a:spcPts val="2741"/>
                </a:lnSpc>
              </a:pPr>
            </a:p>
          </p:txBody>
        </p:sp>
      </p:grpSp>
      <p:grpSp>
        <p:nvGrpSpPr>
          <p:cNvPr name="Group 8" id="8"/>
          <p:cNvGrpSpPr/>
          <p:nvPr/>
        </p:nvGrpSpPr>
        <p:grpSpPr>
          <a:xfrm rot="0">
            <a:off x="1028700" y="1906546"/>
            <a:ext cx="4918564" cy="4593896"/>
            <a:chOff x="0" y="0"/>
            <a:chExt cx="1295424" cy="1209915"/>
          </a:xfrm>
        </p:grpSpPr>
        <p:sp>
          <p:nvSpPr>
            <p:cNvPr name="Freeform 9" id="9"/>
            <p:cNvSpPr/>
            <p:nvPr/>
          </p:nvSpPr>
          <p:spPr>
            <a:xfrm flipH="false" flipV="false" rot="0">
              <a:off x="0" y="0"/>
              <a:ext cx="1295424" cy="1209915"/>
            </a:xfrm>
            <a:custGeom>
              <a:avLst/>
              <a:gdLst/>
              <a:ahLst/>
              <a:cxnLst/>
              <a:rect r="r" b="b" t="t" l="l"/>
              <a:pathLst>
                <a:path h="1209915" w="1295424">
                  <a:moveTo>
                    <a:pt x="78701" y="0"/>
                  </a:moveTo>
                  <a:lnTo>
                    <a:pt x="1216723" y="0"/>
                  </a:lnTo>
                  <a:cubicBezTo>
                    <a:pt x="1260188" y="0"/>
                    <a:pt x="1295424" y="35236"/>
                    <a:pt x="1295424" y="78701"/>
                  </a:cubicBezTo>
                  <a:lnTo>
                    <a:pt x="1295424" y="1131214"/>
                  </a:lnTo>
                  <a:cubicBezTo>
                    <a:pt x="1295424" y="1174679"/>
                    <a:pt x="1260188" y="1209915"/>
                    <a:pt x="1216723" y="1209915"/>
                  </a:cubicBezTo>
                  <a:lnTo>
                    <a:pt x="78701" y="1209915"/>
                  </a:lnTo>
                  <a:cubicBezTo>
                    <a:pt x="35236" y="1209915"/>
                    <a:pt x="0" y="1174679"/>
                    <a:pt x="0" y="1131214"/>
                  </a:cubicBezTo>
                  <a:lnTo>
                    <a:pt x="0" y="78701"/>
                  </a:lnTo>
                  <a:cubicBezTo>
                    <a:pt x="0" y="35236"/>
                    <a:pt x="35236" y="0"/>
                    <a:pt x="78701" y="0"/>
                  </a:cubicBezTo>
                  <a:close/>
                </a:path>
              </a:pathLst>
            </a:custGeom>
            <a:gradFill rotWithShape="true">
              <a:gsLst>
                <a:gs pos="0">
                  <a:srgbClr val="593B8A">
                    <a:alpha val="100000"/>
                  </a:srgbClr>
                </a:gs>
                <a:gs pos="100000">
                  <a:srgbClr val="A07DD8">
                    <a:alpha val="100000"/>
                  </a:srgbClr>
                </a:gs>
              </a:gsLst>
              <a:lin ang="5400000"/>
            </a:gradFill>
            <a:ln w="19050" cap="rnd">
              <a:solidFill>
                <a:srgbClr val="000000"/>
              </a:solidFill>
              <a:prstDash val="solid"/>
              <a:round/>
            </a:ln>
          </p:spPr>
        </p:sp>
        <p:sp>
          <p:nvSpPr>
            <p:cNvPr name="TextBox 10" id="10"/>
            <p:cNvSpPr txBox="true"/>
            <p:nvPr/>
          </p:nvSpPr>
          <p:spPr>
            <a:xfrm>
              <a:off x="0" y="-38100"/>
              <a:ext cx="1295424" cy="1248015"/>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6305670" y="1906546"/>
            <a:ext cx="4918564" cy="4593896"/>
            <a:chOff x="0" y="0"/>
            <a:chExt cx="1295424" cy="1209915"/>
          </a:xfrm>
        </p:grpSpPr>
        <p:sp>
          <p:nvSpPr>
            <p:cNvPr name="Freeform 12" id="12"/>
            <p:cNvSpPr/>
            <p:nvPr/>
          </p:nvSpPr>
          <p:spPr>
            <a:xfrm flipH="false" flipV="false" rot="0">
              <a:off x="0" y="0"/>
              <a:ext cx="1295424" cy="1209915"/>
            </a:xfrm>
            <a:custGeom>
              <a:avLst/>
              <a:gdLst/>
              <a:ahLst/>
              <a:cxnLst/>
              <a:rect r="r" b="b" t="t" l="l"/>
              <a:pathLst>
                <a:path h="1209915" w="1295424">
                  <a:moveTo>
                    <a:pt x="78701" y="0"/>
                  </a:moveTo>
                  <a:lnTo>
                    <a:pt x="1216723" y="0"/>
                  </a:lnTo>
                  <a:cubicBezTo>
                    <a:pt x="1260188" y="0"/>
                    <a:pt x="1295424" y="35236"/>
                    <a:pt x="1295424" y="78701"/>
                  </a:cubicBezTo>
                  <a:lnTo>
                    <a:pt x="1295424" y="1131214"/>
                  </a:lnTo>
                  <a:cubicBezTo>
                    <a:pt x="1295424" y="1174679"/>
                    <a:pt x="1260188" y="1209915"/>
                    <a:pt x="1216723" y="1209915"/>
                  </a:cubicBezTo>
                  <a:lnTo>
                    <a:pt x="78701" y="1209915"/>
                  </a:lnTo>
                  <a:cubicBezTo>
                    <a:pt x="35236" y="1209915"/>
                    <a:pt x="0" y="1174679"/>
                    <a:pt x="0" y="1131214"/>
                  </a:cubicBezTo>
                  <a:lnTo>
                    <a:pt x="0" y="78701"/>
                  </a:lnTo>
                  <a:cubicBezTo>
                    <a:pt x="0" y="35236"/>
                    <a:pt x="35236" y="0"/>
                    <a:pt x="78701" y="0"/>
                  </a:cubicBezTo>
                  <a:close/>
                </a:path>
              </a:pathLst>
            </a:custGeom>
            <a:gradFill rotWithShape="true">
              <a:gsLst>
                <a:gs pos="0">
                  <a:srgbClr val="593B8A">
                    <a:alpha val="100000"/>
                  </a:srgbClr>
                </a:gs>
                <a:gs pos="100000">
                  <a:srgbClr val="A07DD8">
                    <a:alpha val="100000"/>
                  </a:srgbClr>
                </a:gs>
              </a:gsLst>
              <a:lin ang="5400000"/>
            </a:gradFill>
            <a:ln w="19050" cap="rnd">
              <a:solidFill>
                <a:srgbClr val="000000"/>
              </a:solidFill>
              <a:prstDash val="solid"/>
              <a:round/>
            </a:ln>
          </p:spPr>
        </p:sp>
        <p:sp>
          <p:nvSpPr>
            <p:cNvPr name="TextBox 13" id="13"/>
            <p:cNvSpPr txBox="true"/>
            <p:nvPr/>
          </p:nvSpPr>
          <p:spPr>
            <a:xfrm>
              <a:off x="0" y="-38100"/>
              <a:ext cx="1295424" cy="1248015"/>
            </a:xfrm>
            <a:prstGeom prst="rect">
              <a:avLst/>
            </a:prstGeom>
          </p:spPr>
          <p:txBody>
            <a:bodyPr anchor="ctr" rtlCol="false" tIns="50800" lIns="50800" bIns="50800" rIns="50800"/>
            <a:lstStyle/>
            <a:p>
              <a:pPr algn="ctr" marL="0" indent="0" lvl="0">
                <a:lnSpc>
                  <a:spcPts val="2659"/>
                </a:lnSpc>
              </a:pPr>
            </a:p>
          </p:txBody>
        </p:sp>
      </p:grpSp>
      <p:grpSp>
        <p:nvGrpSpPr>
          <p:cNvPr name="Group 14" id="14"/>
          <p:cNvGrpSpPr/>
          <p:nvPr/>
        </p:nvGrpSpPr>
        <p:grpSpPr>
          <a:xfrm rot="0">
            <a:off x="11586184" y="1906546"/>
            <a:ext cx="5673116" cy="7351754"/>
            <a:chOff x="0" y="0"/>
            <a:chExt cx="1592866" cy="2064185"/>
          </a:xfrm>
        </p:grpSpPr>
        <p:sp>
          <p:nvSpPr>
            <p:cNvPr name="Freeform 15" id="15"/>
            <p:cNvSpPr/>
            <p:nvPr/>
          </p:nvSpPr>
          <p:spPr>
            <a:xfrm flipH="false" flipV="false" rot="0">
              <a:off x="0" y="0"/>
              <a:ext cx="1592866" cy="2064185"/>
            </a:xfrm>
            <a:custGeom>
              <a:avLst/>
              <a:gdLst/>
              <a:ahLst/>
              <a:cxnLst/>
              <a:rect r="r" b="b" t="t" l="l"/>
              <a:pathLst>
                <a:path h="2064185" w="1592866">
                  <a:moveTo>
                    <a:pt x="31387" y="0"/>
                  </a:moveTo>
                  <a:lnTo>
                    <a:pt x="1561479" y="0"/>
                  </a:lnTo>
                  <a:cubicBezTo>
                    <a:pt x="1569803" y="0"/>
                    <a:pt x="1577786" y="3307"/>
                    <a:pt x="1583673" y="9193"/>
                  </a:cubicBezTo>
                  <a:cubicBezTo>
                    <a:pt x="1589559" y="15079"/>
                    <a:pt x="1592866" y="23063"/>
                    <a:pt x="1592866" y="31387"/>
                  </a:cubicBezTo>
                  <a:lnTo>
                    <a:pt x="1592866" y="2032797"/>
                  </a:lnTo>
                  <a:cubicBezTo>
                    <a:pt x="1592866" y="2050132"/>
                    <a:pt x="1578813" y="2064185"/>
                    <a:pt x="1561479" y="2064185"/>
                  </a:cubicBezTo>
                  <a:lnTo>
                    <a:pt x="31387" y="2064185"/>
                  </a:lnTo>
                  <a:cubicBezTo>
                    <a:pt x="23063" y="2064185"/>
                    <a:pt x="15079" y="2060878"/>
                    <a:pt x="9193" y="2054991"/>
                  </a:cubicBezTo>
                  <a:cubicBezTo>
                    <a:pt x="3307" y="2049105"/>
                    <a:pt x="0" y="2041122"/>
                    <a:pt x="0" y="2032797"/>
                  </a:cubicBezTo>
                  <a:lnTo>
                    <a:pt x="0" y="31387"/>
                  </a:lnTo>
                  <a:cubicBezTo>
                    <a:pt x="0" y="23063"/>
                    <a:pt x="3307" y="15079"/>
                    <a:pt x="9193" y="9193"/>
                  </a:cubicBezTo>
                  <a:cubicBezTo>
                    <a:pt x="15079" y="3307"/>
                    <a:pt x="23063" y="0"/>
                    <a:pt x="31387" y="0"/>
                  </a:cubicBezTo>
                  <a:close/>
                </a:path>
              </a:pathLst>
            </a:custGeom>
            <a:blipFill>
              <a:blip r:embed="rId4"/>
              <a:stretch>
                <a:fillRect l="-539" t="0" r="-539" b="0"/>
              </a:stretch>
            </a:blipFill>
            <a:ln w="19050" cap="rnd">
              <a:solidFill>
                <a:srgbClr val="000000"/>
              </a:solidFill>
              <a:prstDash val="solid"/>
              <a:round/>
            </a:ln>
          </p:spPr>
        </p:sp>
      </p:grpSp>
      <p:sp>
        <p:nvSpPr>
          <p:cNvPr name="TextBox 16" id="16"/>
          <p:cNvSpPr txBox="true"/>
          <p:nvPr/>
        </p:nvSpPr>
        <p:spPr>
          <a:xfrm rot="0">
            <a:off x="1028700" y="7586381"/>
            <a:ext cx="9837127" cy="1690766"/>
          </a:xfrm>
          <a:prstGeom prst="rect">
            <a:avLst/>
          </a:prstGeom>
        </p:spPr>
        <p:txBody>
          <a:bodyPr anchor="t" rtlCol="false" tIns="0" lIns="0" bIns="0" rIns="0">
            <a:spAutoFit/>
          </a:bodyPr>
          <a:lstStyle/>
          <a:p>
            <a:pPr algn="l" marL="0" indent="0" lvl="0">
              <a:lnSpc>
                <a:spcPts val="11440"/>
              </a:lnSpc>
            </a:pPr>
            <a:r>
              <a:rPr lang="en-US" b="true" sz="11440" spc="-594">
                <a:solidFill>
                  <a:srgbClr val="222223"/>
                </a:solidFill>
                <a:latin typeface="Helvetica World Bold"/>
                <a:ea typeface="Helvetica World Bold"/>
                <a:cs typeface="Helvetica World Bold"/>
                <a:sym typeface="Helvetica World Bold"/>
              </a:rPr>
              <a:t>Our Solution</a:t>
            </a:r>
          </a:p>
        </p:txBody>
      </p:sp>
      <p:sp>
        <p:nvSpPr>
          <p:cNvPr name="TextBox 17" id="17"/>
          <p:cNvSpPr txBox="true"/>
          <p:nvPr/>
        </p:nvSpPr>
        <p:spPr>
          <a:xfrm rot="0">
            <a:off x="1483739" y="2441245"/>
            <a:ext cx="4037472" cy="507659"/>
          </a:xfrm>
          <a:prstGeom prst="rect">
            <a:avLst/>
          </a:prstGeom>
        </p:spPr>
        <p:txBody>
          <a:bodyPr anchor="t" rtlCol="false" tIns="0" lIns="0" bIns="0" rIns="0">
            <a:spAutoFit/>
          </a:bodyPr>
          <a:lstStyle/>
          <a:p>
            <a:pPr algn="l" marL="0" indent="0" lvl="0">
              <a:lnSpc>
                <a:spcPts val="3486"/>
              </a:lnSpc>
            </a:pPr>
            <a:r>
              <a:rPr lang="en-US" b="true" sz="3486" spc="-181">
                <a:solidFill>
                  <a:srgbClr val="FFFFFF"/>
                </a:solidFill>
                <a:latin typeface="Helvetica World Bold"/>
                <a:ea typeface="Helvetica World Bold"/>
                <a:cs typeface="Helvetica World Bold"/>
                <a:sym typeface="Helvetica World Bold"/>
              </a:rPr>
              <a:t>Assessment &amp; Risk</a:t>
            </a:r>
          </a:p>
        </p:txBody>
      </p:sp>
      <p:sp>
        <p:nvSpPr>
          <p:cNvPr name="TextBox 18" id="18"/>
          <p:cNvSpPr txBox="true"/>
          <p:nvPr/>
        </p:nvSpPr>
        <p:spPr>
          <a:xfrm rot="0">
            <a:off x="6760710" y="2441245"/>
            <a:ext cx="4037472" cy="507659"/>
          </a:xfrm>
          <a:prstGeom prst="rect">
            <a:avLst/>
          </a:prstGeom>
        </p:spPr>
        <p:txBody>
          <a:bodyPr anchor="t" rtlCol="false" tIns="0" lIns="0" bIns="0" rIns="0">
            <a:spAutoFit/>
          </a:bodyPr>
          <a:lstStyle/>
          <a:p>
            <a:pPr algn="l" marL="0" indent="0" lvl="0">
              <a:lnSpc>
                <a:spcPts val="3486"/>
              </a:lnSpc>
            </a:pPr>
            <a:r>
              <a:rPr lang="en-US" b="true" sz="3486" spc="-181">
                <a:solidFill>
                  <a:srgbClr val="FFFFFF"/>
                </a:solidFill>
                <a:latin typeface="Helvetica World Bold"/>
                <a:ea typeface="Helvetica World Bold"/>
                <a:cs typeface="Helvetica World Bold"/>
                <a:sym typeface="Helvetica World Bold"/>
              </a:rPr>
              <a:t>AI Insights &amp; Reports</a:t>
            </a:r>
          </a:p>
        </p:txBody>
      </p:sp>
      <p:sp>
        <p:nvSpPr>
          <p:cNvPr name="TextBox 19" id="19"/>
          <p:cNvSpPr txBox="true"/>
          <p:nvPr/>
        </p:nvSpPr>
        <p:spPr>
          <a:xfrm rot="0">
            <a:off x="1045163" y="650408"/>
            <a:ext cx="2457313" cy="531494"/>
          </a:xfrm>
          <a:prstGeom prst="rect">
            <a:avLst/>
          </a:prstGeom>
        </p:spPr>
        <p:txBody>
          <a:bodyPr anchor="t" rtlCol="false" tIns="0" lIns="0" bIns="0" rIns="0">
            <a:spAutoFit/>
          </a:bodyPr>
          <a:lstStyle/>
          <a:p>
            <a:pPr algn="l" marL="0" indent="0" lvl="0">
              <a:lnSpc>
                <a:spcPts val="4305"/>
              </a:lnSpc>
            </a:pPr>
            <a:r>
              <a:rPr lang="en-US" b="true" sz="3075" spc="-144">
                <a:solidFill>
                  <a:srgbClr val="424242"/>
                </a:solidFill>
                <a:latin typeface="Open Sauce Bold"/>
                <a:ea typeface="Open Sauce Bold"/>
                <a:cs typeface="Open Sauce Bold"/>
                <a:sym typeface="Open Sauce Bold"/>
              </a:rPr>
              <a:t>RetireWise AI</a:t>
            </a:r>
          </a:p>
        </p:txBody>
      </p:sp>
      <p:sp>
        <p:nvSpPr>
          <p:cNvPr name="TextBox 20" id="20"/>
          <p:cNvSpPr txBox="true"/>
          <p:nvPr/>
        </p:nvSpPr>
        <p:spPr>
          <a:xfrm rot="0">
            <a:off x="15292495" y="810781"/>
            <a:ext cx="1966805" cy="248738"/>
          </a:xfrm>
          <a:prstGeom prst="rect">
            <a:avLst/>
          </a:prstGeom>
        </p:spPr>
        <p:txBody>
          <a:bodyPr anchor="t" rtlCol="false" tIns="0" lIns="0" bIns="0" rIns="0">
            <a:spAutoFit/>
          </a:bodyPr>
          <a:lstStyle/>
          <a:p>
            <a:pPr algn="ctr" marL="0" indent="0" lvl="0">
              <a:lnSpc>
                <a:spcPts val="2040"/>
              </a:lnSpc>
              <a:spcBef>
                <a:spcPct val="0"/>
              </a:spcBef>
            </a:pPr>
            <a:r>
              <a:rPr lang="en-US" sz="1457" spc="-75">
                <a:solidFill>
                  <a:srgbClr val="FFFFFF"/>
                </a:solidFill>
                <a:latin typeface="Inter"/>
                <a:ea typeface="Inter"/>
                <a:cs typeface="Inter"/>
                <a:sym typeface="Inter"/>
              </a:rPr>
              <a:t>June 11, 2025</a:t>
            </a:r>
          </a:p>
        </p:txBody>
      </p:sp>
      <p:sp>
        <p:nvSpPr>
          <p:cNvPr name="TextBox 21" id="21"/>
          <p:cNvSpPr txBox="true"/>
          <p:nvPr/>
        </p:nvSpPr>
        <p:spPr>
          <a:xfrm rot="0">
            <a:off x="1483739" y="3211113"/>
            <a:ext cx="4037472" cy="2821337"/>
          </a:xfrm>
          <a:prstGeom prst="rect">
            <a:avLst/>
          </a:prstGeom>
        </p:spPr>
        <p:txBody>
          <a:bodyPr anchor="t" rtlCol="false" tIns="0" lIns="0" bIns="0" rIns="0">
            <a:spAutoFit/>
          </a:bodyPr>
          <a:lstStyle/>
          <a:p>
            <a:pPr algn="l" marL="0" indent="0" lvl="0">
              <a:lnSpc>
                <a:spcPts val="2518"/>
              </a:lnSpc>
            </a:pPr>
            <a:r>
              <a:rPr lang="en-US" sz="1798" spc="-71">
                <a:solidFill>
                  <a:srgbClr val="FFFFFF"/>
                </a:solidFill>
                <a:latin typeface="DM Sans"/>
                <a:ea typeface="DM Sans"/>
                <a:cs typeface="DM Sans"/>
                <a:sym typeface="DM Sans"/>
              </a:rPr>
              <a:t>RetireWise AI transforms raw financial data into clear retirement decisions. Users input assets, income, expenses, and liabilities to receive a full financial assessment. The platform evaluates risk tolerance, capacity for loss, and long-term retirement sustainability — giving retirees and advisers a structured, reliable foundation for planning.</a:t>
            </a:r>
          </a:p>
        </p:txBody>
      </p:sp>
      <p:sp>
        <p:nvSpPr>
          <p:cNvPr name="TextBox 22" id="22"/>
          <p:cNvSpPr txBox="true"/>
          <p:nvPr/>
        </p:nvSpPr>
        <p:spPr>
          <a:xfrm rot="0">
            <a:off x="6760710" y="3211113"/>
            <a:ext cx="4037472" cy="2821337"/>
          </a:xfrm>
          <a:prstGeom prst="rect">
            <a:avLst/>
          </a:prstGeom>
        </p:spPr>
        <p:txBody>
          <a:bodyPr anchor="t" rtlCol="false" tIns="0" lIns="0" bIns="0" rIns="0">
            <a:spAutoFit/>
          </a:bodyPr>
          <a:lstStyle/>
          <a:p>
            <a:pPr algn="l" marL="0" indent="0" lvl="0">
              <a:lnSpc>
                <a:spcPts val="2518"/>
              </a:lnSpc>
            </a:pPr>
            <a:r>
              <a:rPr lang="en-US" sz="1798" spc="-71">
                <a:solidFill>
                  <a:srgbClr val="FFFFFF"/>
                </a:solidFill>
                <a:latin typeface="DM Sans"/>
                <a:ea typeface="DM Sans"/>
                <a:cs typeface="DM Sans"/>
                <a:sym typeface="DM Sans"/>
              </a:rPr>
              <a:t>Powered by an intelligent AI explanation layer, RetireWise AI runs scenario stress tests across inflation, market downturns, and emergency events. Results are translated into plain-language explanations and downloadable PDF reports — turning complex financial calculations into actionable, understandable guidance.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EF9"/>
        </a:solidFill>
      </p:bgPr>
    </p:bg>
    <p:spTree>
      <p:nvGrpSpPr>
        <p:cNvPr id="1" name=""/>
        <p:cNvGrpSpPr/>
        <p:nvPr/>
      </p:nvGrpSpPr>
      <p:grpSpPr>
        <a:xfrm>
          <a:off x="0" y="0"/>
          <a:ext cx="0" cy="0"/>
          <a:chOff x="0" y="0"/>
          <a:chExt cx="0" cy="0"/>
        </a:xfrm>
      </p:grpSpPr>
      <p:sp>
        <p:nvSpPr>
          <p:cNvPr name="AutoShape 2" id="2"/>
          <p:cNvSpPr/>
          <p:nvPr/>
        </p:nvSpPr>
        <p:spPr>
          <a:xfrm>
            <a:off x="1045163" y="1411559"/>
            <a:ext cx="16214137" cy="0"/>
          </a:xfrm>
          <a:prstGeom prst="line">
            <a:avLst/>
          </a:prstGeom>
          <a:ln cap="flat" w="19050">
            <a:solidFill>
              <a:srgbClr val="424242"/>
            </a:solidFill>
            <a:prstDash val="solid"/>
            <a:headEnd type="none" len="sm" w="sm"/>
            <a:tailEnd type="none" len="sm" w="sm"/>
          </a:ln>
        </p:spPr>
      </p:sp>
      <p:sp>
        <p:nvSpPr>
          <p:cNvPr name="Freeform 3" id="3"/>
          <p:cNvSpPr/>
          <p:nvPr/>
        </p:nvSpPr>
        <p:spPr>
          <a:xfrm flipH="false" flipV="false" rot="-699989">
            <a:off x="8352473" y="4652140"/>
            <a:ext cx="12899683" cy="8326159"/>
          </a:xfrm>
          <a:custGeom>
            <a:avLst/>
            <a:gdLst/>
            <a:ahLst/>
            <a:cxnLst/>
            <a:rect r="r" b="b" t="t" l="l"/>
            <a:pathLst>
              <a:path h="8326159" w="12899683">
                <a:moveTo>
                  <a:pt x="0" y="0"/>
                </a:moveTo>
                <a:lnTo>
                  <a:pt x="12899683" y="0"/>
                </a:lnTo>
                <a:lnTo>
                  <a:pt x="12899683" y="8326159"/>
                </a:lnTo>
                <a:lnTo>
                  <a:pt x="0" y="8326159"/>
                </a:lnTo>
                <a:lnTo>
                  <a:pt x="0" y="0"/>
                </a:lnTo>
                <a:close/>
              </a:path>
            </a:pathLst>
          </a:custGeom>
          <a:blipFill>
            <a:blip r:embed="rId2">
              <a:alphaModFix amt="31999"/>
            </a:blip>
            <a:stretch>
              <a:fillRect l="0" t="0" r="0" b="0"/>
            </a:stretch>
          </a:blipFill>
        </p:spPr>
      </p:sp>
      <p:sp>
        <p:nvSpPr>
          <p:cNvPr name="Freeform 4" id="4"/>
          <p:cNvSpPr/>
          <p:nvPr/>
        </p:nvSpPr>
        <p:spPr>
          <a:xfrm flipH="true" flipV="false" rot="4113877">
            <a:off x="-1571649" y="-2208254"/>
            <a:ext cx="7690935" cy="8229600"/>
          </a:xfrm>
          <a:custGeom>
            <a:avLst/>
            <a:gdLst/>
            <a:ahLst/>
            <a:cxnLst/>
            <a:rect r="r" b="b" t="t" l="l"/>
            <a:pathLst>
              <a:path h="8229600" w="7690935">
                <a:moveTo>
                  <a:pt x="7690936" y="0"/>
                </a:moveTo>
                <a:lnTo>
                  <a:pt x="0" y="0"/>
                </a:lnTo>
                <a:lnTo>
                  <a:pt x="0" y="8229600"/>
                </a:lnTo>
                <a:lnTo>
                  <a:pt x="7690936" y="8229600"/>
                </a:lnTo>
                <a:lnTo>
                  <a:pt x="7690936" y="0"/>
                </a:lnTo>
                <a:close/>
              </a:path>
            </a:pathLst>
          </a:custGeom>
          <a:blipFill>
            <a:blip r:embed="rId3">
              <a:alphaModFix amt="24000"/>
            </a:blip>
            <a:stretch>
              <a:fillRect l="0" t="0" r="0" b="0"/>
            </a:stretch>
          </a:blipFill>
        </p:spPr>
      </p:sp>
      <p:grpSp>
        <p:nvGrpSpPr>
          <p:cNvPr name="Group 5" id="5"/>
          <p:cNvGrpSpPr/>
          <p:nvPr/>
        </p:nvGrpSpPr>
        <p:grpSpPr>
          <a:xfrm rot="0">
            <a:off x="15292495" y="717002"/>
            <a:ext cx="1966805" cy="464845"/>
            <a:chOff x="0" y="0"/>
            <a:chExt cx="518006" cy="122428"/>
          </a:xfrm>
        </p:grpSpPr>
        <p:sp>
          <p:nvSpPr>
            <p:cNvPr name="Freeform 6" id="6"/>
            <p:cNvSpPr/>
            <p:nvPr/>
          </p:nvSpPr>
          <p:spPr>
            <a:xfrm flipH="false" flipV="false" rot="0">
              <a:off x="0" y="0"/>
              <a:ext cx="518006" cy="122428"/>
            </a:xfrm>
            <a:custGeom>
              <a:avLst/>
              <a:gdLst/>
              <a:ahLst/>
              <a:cxnLst/>
              <a:rect r="r" b="b" t="t" l="l"/>
              <a:pathLst>
                <a:path h="122428" w="518006">
                  <a:moveTo>
                    <a:pt x="61214" y="0"/>
                  </a:moveTo>
                  <a:lnTo>
                    <a:pt x="456792" y="0"/>
                  </a:lnTo>
                  <a:cubicBezTo>
                    <a:pt x="490600" y="0"/>
                    <a:pt x="518006" y="27406"/>
                    <a:pt x="518006" y="61214"/>
                  </a:cubicBezTo>
                  <a:lnTo>
                    <a:pt x="518006" y="61214"/>
                  </a:lnTo>
                  <a:cubicBezTo>
                    <a:pt x="518006" y="95022"/>
                    <a:pt x="490600" y="122428"/>
                    <a:pt x="456792" y="122428"/>
                  </a:cubicBezTo>
                  <a:lnTo>
                    <a:pt x="61214" y="122428"/>
                  </a:lnTo>
                  <a:cubicBezTo>
                    <a:pt x="27406" y="122428"/>
                    <a:pt x="0" y="95022"/>
                    <a:pt x="0" y="61214"/>
                  </a:cubicBezTo>
                  <a:lnTo>
                    <a:pt x="0" y="61214"/>
                  </a:lnTo>
                  <a:cubicBezTo>
                    <a:pt x="0" y="27406"/>
                    <a:pt x="27406" y="0"/>
                    <a:pt x="61214" y="0"/>
                  </a:cubicBezTo>
                  <a:close/>
                </a:path>
              </a:pathLst>
            </a:custGeom>
            <a:solidFill>
              <a:srgbClr val="593B8A"/>
            </a:solidFill>
            <a:ln w="19050" cap="rnd">
              <a:solidFill>
                <a:srgbClr val="29241F"/>
              </a:solidFill>
              <a:prstDash val="solid"/>
              <a:round/>
            </a:ln>
          </p:spPr>
        </p:sp>
        <p:sp>
          <p:nvSpPr>
            <p:cNvPr name="TextBox 7" id="7"/>
            <p:cNvSpPr txBox="true"/>
            <p:nvPr/>
          </p:nvSpPr>
          <p:spPr>
            <a:xfrm>
              <a:off x="0" y="-38100"/>
              <a:ext cx="518006" cy="160528"/>
            </a:xfrm>
            <a:prstGeom prst="rect">
              <a:avLst/>
            </a:prstGeom>
          </p:spPr>
          <p:txBody>
            <a:bodyPr anchor="ctr" rtlCol="false" tIns="50800" lIns="50800" bIns="50800" rIns="50800"/>
            <a:lstStyle/>
            <a:p>
              <a:pPr algn="ctr" marL="0" indent="0" lvl="0">
                <a:lnSpc>
                  <a:spcPts val="2741"/>
                </a:lnSpc>
              </a:pPr>
            </a:p>
          </p:txBody>
        </p:sp>
      </p:grpSp>
      <p:grpSp>
        <p:nvGrpSpPr>
          <p:cNvPr name="Group 8" id="8"/>
          <p:cNvGrpSpPr/>
          <p:nvPr/>
        </p:nvGrpSpPr>
        <p:grpSpPr>
          <a:xfrm rot="0">
            <a:off x="1028700" y="5594590"/>
            <a:ext cx="4918564" cy="3692142"/>
            <a:chOff x="0" y="0"/>
            <a:chExt cx="1295424" cy="972416"/>
          </a:xfrm>
        </p:grpSpPr>
        <p:sp>
          <p:nvSpPr>
            <p:cNvPr name="Freeform 9" id="9"/>
            <p:cNvSpPr/>
            <p:nvPr/>
          </p:nvSpPr>
          <p:spPr>
            <a:xfrm flipH="false" flipV="false" rot="0">
              <a:off x="0" y="0"/>
              <a:ext cx="1295424" cy="972416"/>
            </a:xfrm>
            <a:custGeom>
              <a:avLst/>
              <a:gdLst/>
              <a:ahLst/>
              <a:cxnLst/>
              <a:rect r="r" b="b" t="t" l="l"/>
              <a:pathLst>
                <a:path h="972416" w="1295424">
                  <a:moveTo>
                    <a:pt x="78701" y="0"/>
                  </a:moveTo>
                  <a:lnTo>
                    <a:pt x="1216723" y="0"/>
                  </a:lnTo>
                  <a:cubicBezTo>
                    <a:pt x="1260188" y="0"/>
                    <a:pt x="1295424" y="35236"/>
                    <a:pt x="1295424" y="78701"/>
                  </a:cubicBezTo>
                  <a:lnTo>
                    <a:pt x="1295424" y="893715"/>
                  </a:lnTo>
                  <a:cubicBezTo>
                    <a:pt x="1295424" y="937180"/>
                    <a:pt x="1260188" y="972416"/>
                    <a:pt x="1216723" y="972416"/>
                  </a:cubicBezTo>
                  <a:lnTo>
                    <a:pt x="78701" y="972416"/>
                  </a:lnTo>
                  <a:cubicBezTo>
                    <a:pt x="35236" y="972416"/>
                    <a:pt x="0" y="937180"/>
                    <a:pt x="0" y="893715"/>
                  </a:cubicBezTo>
                  <a:lnTo>
                    <a:pt x="0" y="78701"/>
                  </a:lnTo>
                  <a:cubicBezTo>
                    <a:pt x="0" y="35236"/>
                    <a:pt x="35236" y="0"/>
                    <a:pt x="78701" y="0"/>
                  </a:cubicBezTo>
                  <a:close/>
                </a:path>
              </a:pathLst>
            </a:custGeom>
            <a:gradFill rotWithShape="true">
              <a:gsLst>
                <a:gs pos="0">
                  <a:srgbClr val="593B8A">
                    <a:alpha val="100000"/>
                  </a:srgbClr>
                </a:gs>
                <a:gs pos="100000">
                  <a:srgbClr val="A07DD8">
                    <a:alpha val="100000"/>
                  </a:srgbClr>
                </a:gs>
              </a:gsLst>
              <a:lin ang="5400000"/>
            </a:gradFill>
            <a:ln w="19050" cap="rnd">
              <a:solidFill>
                <a:srgbClr val="000000"/>
              </a:solidFill>
              <a:prstDash val="solid"/>
              <a:round/>
            </a:ln>
          </p:spPr>
        </p:sp>
        <p:sp>
          <p:nvSpPr>
            <p:cNvPr name="TextBox 10" id="10"/>
            <p:cNvSpPr txBox="true"/>
            <p:nvPr/>
          </p:nvSpPr>
          <p:spPr>
            <a:xfrm>
              <a:off x="0" y="-38100"/>
              <a:ext cx="1295424" cy="1010516"/>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12343032" y="5594590"/>
            <a:ext cx="4918564" cy="3692142"/>
            <a:chOff x="0" y="0"/>
            <a:chExt cx="1295424" cy="972416"/>
          </a:xfrm>
        </p:grpSpPr>
        <p:sp>
          <p:nvSpPr>
            <p:cNvPr name="Freeform 12" id="12"/>
            <p:cNvSpPr/>
            <p:nvPr/>
          </p:nvSpPr>
          <p:spPr>
            <a:xfrm flipH="false" flipV="false" rot="0">
              <a:off x="0" y="0"/>
              <a:ext cx="1295424" cy="972416"/>
            </a:xfrm>
            <a:custGeom>
              <a:avLst/>
              <a:gdLst/>
              <a:ahLst/>
              <a:cxnLst/>
              <a:rect r="r" b="b" t="t" l="l"/>
              <a:pathLst>
                <a:path h="972416" w="1295424">
                  <a:moveTo>
                    <a:pt x="78701" y="0"/>
                  </a:moveTo>
                  <a:lnTo>
                    <a:pt x="1216723" y="0"/>
                  </a:lnTo>
                  <a:cubicBezTo>
                    <a:pt x="1260188" y="0"/>
                    <a:pt x="1295424" y="35236"/>
                    <a:pt x="1295424" y="78701"/>
                  </a:cubicBezTo>
                  <a:lnTo>
                    <a:pt x="1295424" y="893715"/>
                  </a:lnTo>
                  <a:cubicBezTo>
                    <a:pt x="1295424" y="937180"/>
                    <a:pt x="1260188" y="972416"/>
                    <a:pt x="1216723" y="972416"/>
                  </a:cubicBezTo>
                  <a:lnTo>
                    <a:pt x="78701" y="972416"/>
                  </a:lnTo>
                  <a:cubicBezTo>
                    <a:pt x="35236" y="972416"/>
                    <a:pt x="0" y="937180"/>
                    <a:pt x="0" y="893715"/>
                  </a:cubicBezTo>
                  <a:lnTo>
                    <a:pt x="0" y="78701"/>
                  </a:lnTo>
                  <a:cubicBezTo>
                    <a:pt x="0" y="35236"/>
                    <a:pt x="35236" y="0"/>
                    <a:pt x="78701" y="0"/>
                  </a:cubicBezTo>
                  <a:close/>
                </a:path>
              </a:pathLst>
            </a:custGeom>
            <a:gradFill rotWithShape="true">
              <a:gsLst>
                <a:gs pos="0">
                  <a:srgbClr val="593B8A">
                    <a:alpha val="100000"/>
                  </a:srgbClr>
                </a:gs>
                <a:gs pos="100000">
                  <a:srgbClr val="A07DD8">
                    <a:alpha val="100000"/>
                  </a:srgbClr>
                </a:gs>
              </a:gsLst>
              <a:lin ang="5400000"/>
            </a:gradFill>
            <a:ln w="19050" cap="rnd">
              <a:solidFill>
                <a:srgbClr val="000000"/>
              </a:solidFill>
              <a:prstDash val="solid"/>
              <a:round/>
            </a:ln>
          </p:spPr>
        </p:sp>
        <p:sp>
          <p:nvSpPr>
            <p:cNvPr name="TextBox 13" id="13"/>
            <p:cNvSpPr txBox="true"/>
            <p:nvPr/>
          </p:nvSpPr>
          <p:spPr>
            <a:xfrm>
              <a:off x="0" y="-38100"/>
              <a:ext cx="1295424" cy="1010516"/>
            </a:xfrm>
            <a:prstGeom prst="rect">
              <a:avLst/>
            </a:prstGeom>
          </p:spPr>
          <p:txBody>
            <a:bodyPr anchor="ctr" rtlCol="false" tIns="50800" lIns="50800" bIns="50800" rIns="50800"/>
            <a:lstStyle/>
            <a:p>
              <a:pPr algn="ctr" marL="0" indent="0" lvl="0">
                <a:lnSpc>
                  <a:spcPts val="2659"/>
                </a:lnSpc>
              </a:pPr>
            </a:p>
          </p:txBody>
        </p:sp>
      </p:grpSp>
      <p:grpSp>
        <p:nvGrpSpPr>
          <p:cNvPr name="Group 14" id="14"/>
          <p:cNvGrpSpPr/>
          <p:nvPr/>
        </p:nvGrpSpPr>
        <p:grpSpPr>
          <a:xfrm rot="0">
            <a:off x="6308590" y="4855997"/>
            <a:ext cx="5673116" cy="4430735"/>
            <a:chOff x="0" y="0"/>
            <a:chExt cx="1592866" cy="1244037"/>
          </a:xfrm>
        </p:grpSpPr>
        <p:sp>
          <p:nvSpPr>
            <p:cNvPr name="Freeform 15" id="15"/>
            <p:cNvSpPr/>
            <p:nvPr/>
          </p:nvSpPr>
          <p:spPr>
            <a:xfrm flipH="false" flipV="false" rot="0">
              <a:off x="0" y="0"/>
              <a:ext cx="1592866" cy="1244037"/>
            </a:xfrm>
            <a:custGeom>
              <a:avLst/>
              <a:gdLst/>
              <a:ahLst/>
              <a:cxnLst/>
              <a:rect r="r" b="b" t="t" l="l"/>
              <a:pathLst>
                <a:path h="1244037" w="1592866">
                  <a:moveTo>
                    <a:pt x="31387" y="0"/>
                  </a:moveTo>
                  <a:lnTo>
                    <a:pt x="1561479" y="0"/>
                  </a:lnTo>
                  <a:cubicBezTo>
                    <a:pt x="1569803" y="0"/>
                    <a:pt x="1577786" y="3307"/>
                    <a:pt x="1583673" y="9193"/>
                  </a:cubicBezTo>
                  <a:cubicBezTo>
                    <a:pt x="1589559" y="15079"/>
                    <a:pt x="1592866" y="23063"/>
                    <a:pt x="1592866" y="31387"/>
                  </a:cubicBezTo>
                  <a:lnTo>
                    <a:pt x="1592866" y="1212650"/>
                  </a:lnTo>
                  <a:cubicBezTo>
                    <a:pt x="1592866" y="1220974"/>
                    <a:pt x="1589559" y="1228958"/>
                    <a:pt x="1583673" y="1234844"/>
                  </a:cubicBezTo>
                  <a:cubicBezTo>
                    <a:pt x="1577786" y="1240730"/>
                    <a:pt x="1569803" y="1244037"/>
                    <a:pt x="1561479" y="1244037"/>
                  </a:cubicBezTo>
                  <a:lnTo>
                    <a:pt x="31387" y="1244037"/>
                  </a:lnTo>
                  <a:cubicBezTo>
                    <a:pt x="14053" y="1244037"/>
                    <a:pt x="0" y="1229984"/>
                    <a:pt x="0" y="1212650"/>
                  </a:cubicBezTo>
                  <a:lnTo>
                    <a:pt x="0" y="31387"/>
                  </a:lnTo>
                  <a:cubicBezTo>
                    <a:pt x="0" y="23063"/>
                    <a:pt x="3307" y="15079"/>
                    <a:pt x="9193" y="9193"/>
                  </a:cubicBezTo>
                  <a:cubicBezTo>
                    <a:pt x="15079" y="3307"/>
                    <a:pt x="23063" y="0"/>
                    <a:pt x="31387" y="0"/>
                  </a:cubicBezTo>
                  <a:close/>
                </a:path>
              </a:pathLst>
            </a:custGeom>
            <a:blipFill>
              <a:blip r:embed="rId4"/>
              <a:stretch>
                <a:fillRect l="-64" t="0" r="-64" b="0"/>
              </a:stretch>
            </a:blipFill>
            <a:ln w="19050" cap="rnd">
              <a:solidFill>
                <a:srgbClr val="000000"/>
              </a:solidFill>
              <a:prstDash val="solid"/>
              <a:round/>
            </a:ln>
          </p:spPr>
        </p:sp>
      </p:grpSp>
      <p:sp>
        <p:nvSpPr>
          <p:cNvPr name="TextBox 16" id="16"/>
          <p:cNvSpPr txBox="true"/>
          <p:nvPr/>
        </p:nvSpPr>
        <p:spPr>
          <a:xfrm rot="0">
            <a:off x="1028700" y="1859234"/>
            <a:ext cx="16230600" cy="1690766"/>
          </a:xfrm>
          <a:prstGeom prst="rect">
            <a:avLst/>
          </a:prstGeom>
        </p:spPr>
        <p:txBody>
          <a:bodyPr anchor="t" rtlCol="false" tIns="0" lIns="0" bIns="0" rIns="0">
            <a:spAutoFit/>
          </a:bodyPr>
          <a:lstStyle/>
          <a:p>
            <a:pPr algn="ctr" marL="0" indent="0" lvl="0">
              <a:lnSpc>
                <a:spcPts val="11440"/>
              </a:lnSpc>
            </a:pPr>
            <a:r>
              <a:rPr lang="en-US" b="true" sz="11440" spc="-594">
                <a:solidFill>
                  <a:srgbClr val="222223"/>
                </a:solidFill>
                <a:latin typeface="Helvetica World Bold"/>
                <a:ea typeface="Helvetica World Bold"/>
                <a:cs typeface="Helvetica World Bold"/>
                <a:sym typeface="Helvetica World Bold"/>
              </a:rPr>
              <a:t>How It Works</a:t>
            </a:r>
          </a:p>
        </p:txBody>
      </p:sp>
      <p:sp>
        <p:nvSpPr>
          <p:cNvPr name="TextBox 17" id="17"/>
          <p:cNvSpPr txBox="true"/>
          <p:nvPr/>
        </p:nvSpPr>
        <p:spPr>
          <a:xfrm rot="0">
            <a:off x="1045163" y="650408"/>
            <a:ext cx="2457313" cy="531494"/>
          </a:xfrm>
          <a:prstGeom prst="rect">
            <a:avLst/>
          </a:prstGeom>
        </p:spPr>
        <p:txBody>
          <a:bodyPr anchor="t" rtlCol="false" tIns="0" lIns="0" bIns="0" rIns="0">
            <a:spAutoFit/>
          </a:bodyPr>
          <a:lstStyle/>
          <a:p>
            <a:pPr algn="l" marL="0" indent="0" lvl="0">
              <a:lnSpc>
                <a:spcPts val="4305"/>
              </a:lnSpc>
            </a:pPr>
            <a:r>
              <a:rPr lang="en-US" b="true" sz="3075" spc="-144">
                <a:solidFill>
                  <a:srgbClr val="424242"/>
                </a:solidFill>
                <a:latin typeface="Open Sauce Bold"/>
                <a:ea typeface="Open Sauce Bold"/>
                <a:cs typeface="Open Sauce Bold"/>
                <a:sym typeface="Open Sauce Bold"/>
              </a:rPr>
              <a:t>RetireWise AI</a:t>
            </a:r>
          </a:p>
        </p:txBody>
      </p:sp>
      <p:sp>
        <p:nvSpPr>
          <p:cNvPr name="TextBox 18" id="18"/>
          <p:cNvSpPr txBox="true"/>
          <p:nvPr/>
        </p:nvSpPr>
        <p:spPr>
          <a:xfrm rot="0">
            <a:off x="15292495" y="810781"/>
            <a:ext cx="1966805" cy="248738"/>
          </a:xfrm>
          <a:prstGeom prst="rect">
            <a:avLst/>
          </a:prstGeom>
        </p:spPr>
        <p:txBody>
          <a:bodyPr anchor="t" rtlCol="false" tIns="0" lIns="0" bIns="0" rIns="0">
            <a:spAutoFit/>
          </a:bodyPr>
          <a:lstStyle/>
          <a:p>
            <a:pPr algn="ctr" marL="0" indent="0" lvl="0">
              <a:lnSpc>
                <a:spcPts val="2040"/>
              </a:lnSpc>
              <a:spcBef>
                <a:spcPct val="0"/>
              </a:spcBef>
            </a:pPr>
            <a:r>
              <a:rPr lang="en-US" sz="1457" spc="-75">
                <a:solidFill>
                  <a:srgbClr val="FFFFFF"/>
                </a:solidFill>
                <a:latin typeface="Inter"/>
                <a:ea typeface="Inter"/>
                <a:cs typeface="Inter"/>
                <a:sym typeface="Inter"/>
              </a:rPr>
              <a:t>June 11, 2025</a:t>
            </a:r>
          </a:p>
        </p:txBody>
      </p:sp>
      <p:sp>
        <p:nvSpPr>
          <p:cNvPr name="TextBox 19" id="19"/>
          <p:cNvSpPr txBox="true"/>
          <p:nvPr/>
        </p:nvSpPr>
        <p:spPr>
          <a:xfrm rot="0">
            <a:off x="2273819" y="3703004"/>
            <a:ext cx="13757151" cy="692186"/>
          </a:xfrm>
          <a:prstGeom prst="rect">
            <a:avLst/>
          </a:prstGeom>
        </p:spPr>
        <p:txBody>
          <a:bodyPr anchor="t" rtlCol="false" tIns="0" lIns="0" bIns="0" rIns="0">
            <a:spAutoFit/>
          </a:bodyPr>
          <a:lstStyle/>
          <a:p>
            <a:pPr algn="ctr" marL="0" indent="0" lvl="0">
              <a:lnSpc>
                <a:spcPts val="2798"/>
              </a:lnSpc>
            </a:pPr>
            <a:r>
              <a:rPr lang="en-US" sz="1998" spc="-79">
                <a:solidFill>
                  <a:srgbClr val="393939"/>
                </a:solidFill>
                <a:latin typeface="DM Sans"/>
                <a:ea typeface="DM Sans"/>
                <a:cs typeface="DM Sans"/>
                <a:sym typeface="DM Sans"/>
              </a:rPr>
              <a:t>A seamless end-to-end workflow that transforms your financial data into clear, actionable retirement decisions — powered by AI.</a:t>
            </a:r>
          </a:p>
        </p:txBody>
      </p:sp>
      <p:sp>
        <p:nvSpPr>
          <p:cNvPr name="TextBox 20" id="20"/>
          <p:cNvSpPr txBox="true"/>
          <p:nvPr/>
        </p:nvSpPr>
        <p:spPr>
          <a:xfrm rot="0">
            <a:off x="1483739" y="6166090"/>
            <a:ext cx="4037472" cy="507659"/>
          </a:xfrm>
          <a:prstGeom prst="rect">
            <a:avLst/>
          </a:prstGeom>
        </p:spPr>
        <p:txBody>
          <a:bodyPr anchor="t" rtlCol="false" tIns="0" lIns="0" bIns="0" rIns="0">
            <a:spAutoFit/>
          </a:bodyPr>
          <a:lstStyle/>
          <a:p>
            <a:pPr algn="l" marL="0" indent="0" lvl="0">
              <a:lnSpc>
                <a:spcPts val="3486"/>
              </a:lnSpc>
            </a:pPr>
            <a:r>
              <a:rPr lang="en-US" b="true" sz="3486" spc="-181">
                <a:solidFill>
                  <a:srgbClr val="FFFFFF"/>
                </a:solidFill>
                <a:latin typeface="Helvetica World Bold"/>
                <a:ea typeface="Helvetica World Bold"/>
                <a:cs typeface="Helvetica World Bold"/>
                <a:sym typeface="Helvetica World Bold"/>
              </a:rPr>
              <a:t>Step 1 → 4</a:t>
            </a:r>
          </a:p>
        </p:txBody>
      </p:sp>
      <p:sp>
        <p:nvSpPr>
          <p:cNvPr name="TextBox 21" id="21"/>
          <p:cNvSpPr txBox="true"/>
          <p:nvPr/>
        </p:nvSpPr>
        <p:spPr>
          <a:xfrm rot="0">
            <a:off x="12798072" y="6166090"/>
            <a:ext cx="4037472" cy="507659"/>
          </a:xfrm>
          <a:prstGeom prst="rect">
            <a:avLst/>
          </a:prstGeom>
        </p:spPr>
        <p:txBody>
          <a:bodyPr anchor="t" rtlCol="false" tIns="0" lIns="0" bIns="0" rIns="0">
            <a:spAutoFit/>
          </a:bodyPr>
          <a:lstStyle/>
          <a:p>
            <a:pPr algn="l" marL="0" indent="0" lvl="0">
              <a:lnSpc>
                <a:spcPts val="3486"/>
              </a:lnSpc>
            </a:pPr>
            <a:r>
              <a:rPr lang="en-US" b="true" sz="3486" spc="-181">
                <a:solidFill>
                  <a:srgbClr val="FFFFFF"/>
                </a:solidFill>
                <a:latin typeface="Helvetica World Bold"/>
                <a:ea typeface="Helvetica World Bold"/>
                <a:cs typeface="Helvetica World Bold"/>
                <a:sym typeface="Helvetica World Bold"/>
              </a:rPr>
              <a:t>Step 5 → 7</a:t>
            </a:r>
          </a:p>
        </p:txBody>
      </p:sp>
      <p:sp>
        <p:nvSpPr>
          <p:cNvPr name="TextBox 22" id="22"/>
          <p:cNvSpPr txBox="true"/>
          <p:nvPr/>
        </p:nvSpPr>
        <p:spPr>
          <a:xfrm rot="0">
            <a:off x="1483739" y="7038666"/>
            <a:ext cx="4037472" cy="1878362"/>
          </a:xfrm>
          <a:prstGeom prst="rect">
            <a:avLst/>
          </a:prstGeom>
        </p:spPr>
        <p:txBody>
          <a:bodyPr anchor="t" rtlCol="false" tIns="0" lIns="0" bIns="0" rIns="0">
            <a:spAutoFit/>
          </a:bodyPr>
          <a:lstStyle/>
          <a:p>
            <a:pPr algn="l" marL="0" indent="0" lvl="0">
              <a:lnSpc>
                <a:spcPts val="2518"/>
              </a:lnSpc>
            </a:pPr>
            <a:r>
              <a:rPr lang="en-US" sz="1798" spc="-71">
                <a:solidFill>
                  <a:srgbClr val="FFFFFF"/>
                </a:solidFill>
                <a:latin typeface="DM Sans"/>
                <a:ea typeface="DM Sans"/>
                <a:cs typeface="DM Sans"/>
                <a:sym typeface="DM Sans"/>
              </a:rPr>
              <a:t>User / Adviser inputs data → Financial Assessment (assets, income, expenses, liabilities) → Risk &amp; Capacity Engine (tolerance scoring) → Retirement Calculation Engine (sustainability analysis)</a:t>
            </a:r>
          </a:p>
        </p:txBody>
      </p:sp>
      <p:sp>
        <p:nvSpPr>
          <p:cNvPr name="TextBox 23" id="23"/>
          <p:cNvSpPr txBox="true"/>
          <p:nvPr/>
        </p:nvSpPr>
        <p:spPr>
          <a:xfrm rot="0">
            <a:off x="12798072" y="7038666"/>
            <a:ext cx="4037472" cy="1564037"/>
          </a:xfrm>
          <a:prstGeom prst="rect">
            <a:avLst/>
          </a:prstGeom>
        </p:spPr>
        <p:txBody>
          <a:bodyPr anchor="t" rtlCol="false" tIns="0" lIns="0" bIns="0" rIns="0">
            <a:spAutoFit/>
          </a:bodyPr>
          <a:lstStyle/>
          <a:p>
            <a:pPr algn="l" marL="0" indent="0" lvl="0">
              <a:lnSpc>
                <a:spcPts val="2518"/>
              </a:lnSpc>
            </a:pPr>
            <a:r>
              <a:rPr lang="en-US" sz="1798" spc="-71">
                <a:solidFill>
                  <a:srgbClr val="FFFFFF"/>
                </a:solidFill>
                <a:latin typeface="DM Sans"/>
                <a:ea typeface="DM Sans"/>
                <a:cs typeface="DM Sans"/>
                <a:sym typeface="DM Sans"/>
              </a:rPr>
              <a:t>Scenario Stress Testing (inflation, market crash, emergencies) → AI Explanation Layer (plain-language insights via LLM) → Dashboard &amp; PDF Report (visual charts and downloadable summary)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EF9"/>
        </a:solidFill>
      </p:bgPr>
    </p:bg>
    <p:spTree>
      <p:nvGrpSpPr>
        <p:cNvPr id="1" name=""/>
        <p:cNvGrpSpPr/>
        <p:nvPr/>
      </p:nvGrpSpPr>
      <p:grpSpPr>
        <a:xfrm>
          <a:off x="0" y="0"/>
          <a:ext cx="0" cy="0"/>
          <a:chOff x="0" y="0"/>
          <a:chExt cx="0" cy="0"/>
        </a:xfrm>
      </p:grpSpPr>
      <p:sp>
        <p:nvSpPr>
          <p:cNvPr name="AutoShape 2" id="2"/>
          <p:cNvSpPr/>
          <p:nvPr/>
        </p:nvSpPr>
        <p:spPr>
          <a:xfrm>
            <a:off x="1045163" y="1411559"/>
            <a:ext cx="16214137" cy="0"/>
          </a:xfrm>
          <a:prstGeom prst="line">
            <a:avLst/>
          </a:prstGeom>
          <a:ln cap="flat" w="19050">
            <a:solidFill>
              <a:srgbClr val="424242"/>
            </a:solidFill>
            <a:prstDash val="solid"/>
            <a:headEnd type="none" len="sm" w="sm"/>
            <a:tailEnd type="none" len="sm" w="sm"/>
          </a:ln>
        </p:spPr>
      </p:sp>
      <p:sp>
        <p:nvSpPr>
          <p:cNvPr name="Freeform 3" id="3"/>
          <p:cNvSpPr/>
          <p:nvPr/>
        </p:nvSpPr>
        <p:spPr>
          <a:xfrm flipH="false" flipV="false" rot="-699989">
            <a:off x="8352473" y="4652140"/>
            <a:ext cx="12899683" cy="8326159"/>
          </a:xfrm>
          <a:custGeom>
            <a:avLst/>
            <a:gdLst/>
            <a:ahLst/>
            <a:cxnLst/>
            <a:rect r="r" b="b" t="t" l="l"/>
            <a:pathLst>
              <a:path h="8326159" w="12899683">
                <a:moveTo>
                  <a:pt x="0" y="0"/>
                </a:moveTo>
                <a:lnTo>
                  <a:pt x="12899683" y="0"/>
                </a:lnTo>
                <a:lnTo>
                  <a:pt x="12899683" y="8326159"/>
                </a:lnTo>
                <a:lnTo>
                  <a:pt x="0" y="8326159"/>
                </a:lnTo>
                <a:lnTo>
                  <a:pt x="0" y="0"/>
                </a:lnTo>
                <a:close/>
              </a:path>
            </a:pathLst>
          </a:custGeom>
          <a:blipFill>
            <a:blip r:embed="rId2">
              <a:alphaModFix amt="31999"/>
            </a:blip>
            <a:stretch>
              <a:fillRect l="0" t="0" r="0" b="0"/>
            </a:stretch>
          </a:blipFill>
        </p:spPr>
      </p:sp>
      <p:sp>
        <p:nvSpPr>
          <p:cNvPr name="Freeform 4" id="4"/>
          <p:cNvSpPr/>
          <p:nvPr/>
        </p:nvSpPr>
        <p:spPr>
          <a:xfrm flipH="true" flipV="false" rot="4113877">
            <a:off x="-1571649" y="-2208254"/>
            <a:ext cx="7690935" cy="8229600"/>
          </a:xfrm>
          <a:custGeom>
            <a:avLst/>
            <a:gdLst/>
            <a:ahLst/>
            <a:cxnLst/>
            <a:rect r="r" b="b" t="t" l="l"/>
            <a:pathLst>
              <a:path h="8229600" w="7690935">
                <a:moveTo>
                  <a:pt x="7690936" y="0"/>
                </a:moveTo>
                <a:lnTo>
                  <a:pt x="0" y="0"/>
                </a:lnTo>
                <a:lnTo>
                  <a:pt x="0" y="8229600"/>
                </a:lnTo>
                <a:lnTo>
                  <a:pt x="7690936" y="8229600"/>
                </a:lnTo>
                <a:lnTo>
                  <a:pt x="7690936" y="0"/>
                </a:lnTo>
                <a:close/>
              </a:path>
            </a:pathLst>
          </a:custGeom>
          <a:blipFill>
            <a:blip r:embed="rId3">
              <a:alphaModFix amt="24000"/>
            </a:blip>
            <a:stretch>
              <a:fillRect l="0" t="0" r="0" b="0"/>
            </a:stretch>
          </a:blipFill>
        </p:spPr>
      </p:sp>
      <p:grpSp>
        <p:nvGrpSpPr>
          <p:cNvPr name="Group 5" id="5"/>
          <p:cNvGrpSpPr/>
          <p:nvPr/>
        </p:nvGrpSpPr>
        <p:grpSpPr>
          <a:xfrm rot="0">
            <a:off x="15292495" y="717002"/>
            <a:ext cx="1966805" cy="464845"/>
            <a:chOff x="0" y="0"/>
            <a:chExt cx="518006" cy="122428"/>
          </a:xfrm>
        </p:grpSpPr>
        <p:sp>
          <p:nvSpPr>
            <p:cNvPr name="Freeform 6" id="6"/>
            <p:cNvSpPr/>
            <p:nvPr/>
          </p:nvSpPr>
          <p:spPr>
            <a:xfrm flipH="false" flipV="false" rot="0">
              <a:off x="0" y="0"/>
              <a:ext cx="518006" cy="122428"/>
            </a:xfrm>
            <a:custGeom>
              <a:avLst/>
              <a:gdLst/>
              <a:ahLst/>
              <a:cxnLst/>
              <a:rect r="r" b="b" t="t" l="l"/>
              <a:pathLst>
                <a:path h="122428" w="518006">
                  <a:moveTo>
                    <a:pt x="61214" y="0"/>
                  </a:moveTo>
                  <a:lnTo>
                    <a:pt x="456792" y="0"/>
                  </a:lnTo>
                  <a:cubicBezTo>
                    <a:pt x="490600" y="0"/>
                    <a:pt x="518006" y="27406"/>
                    <a:pt x="518006" y="61214"/>
                  </a:cubicBezTo>
                  <a:lnTo>
                    <a:pt x="518006" y="61214"/>
                  </a:lnTo>
                  <a:cubicBezTo>
                    <a:pt x="518006" y="95022"/>
                    <a:pt x="490600" y="122428"/>
                    <a:pt x="456792" y="122428"/>
                  </a:cubicBezTo>
                  <a:lnTo>
                    <a:pt x="61214" y="122428"/>
                  </a:lnTo>
                  <a:cubicBezTo>
                    <a:pt x="27406" y="122428"/>
                    <a:pt x="0" y="95022"/>
                    <a:pt x="0" y="61214"/>
                  </a:cubicBezTo>
                  <a:lnTo>
                    <a:pt x="0" y="61214"/>
                  </a:lnTo>
                  <a:cubicBezTo>
                    <a:pt x="0" y="27406"/>
                    <a:pt x="27406" y="0"/>
                    <a:pt x="61214" y="0"/>
                  </a:cubicBezTo>
                  <a:close/>
                </a:path>
              </a:pathLst>
            </a:custGeom>
            <a:solidFill>
              <a:srgbClr val="593B8A"/>
            </a:solidFill>
            <a:ln w="19050" cap="rnd">
              <a:solidFill>
                <a:srgbClr val="29241F"/>
              </a:solidFill>
              <a:prstDash val="solid"/>
              <a:round/>
            </a:ln>
          </p:spPr>
        </p:sp>
        <p:sp>
          <p:nvSpPr>
            <p:cNvPr name="TextBox 7" id="7"/>
            <p:cNvSpPr txBox="true"/>
            <p:nvPr/>
          </p:nvSpPr>
          <p:spPr>
            <a:xfrm>
              <a:off x="0" y="-38100"/>
              <a:ext cx="518006" cy="160528"/>
            </a:xfrm>
            <a:prstGeom prst="rect">
              <a:avLst/>
            </a:prstGeom>
          </p:spPr>
          <p:txBody>
            <a:bodyPr anchor="ctr" rtlCol="false" tIns="50800" lIns="50800" bIns="50800" rIns="50800"/>
            <a:lstStyle/>
            <a:p>
              <a:pPr algn="ctr" marL="0" indent="0" lvl="0">
                <a:lnSpc>
                  <a:spcPts val="2741"/>
                </a:lnSpc>
              </a:pPr>
            </a:p>
          </p:txBody>
        </p:sp>
      </p:grpSp>
      <p:grpSp>
        <p:nvGrpSpPr>
          <p:cNvPr name="Group 8" id="8"/>
          <p:cNvGrpSpPr/>
          <p:nvPr/>
        </p:nvGrpSpPr>
        <p:grpSpPr>
          <a:xfrm rot="0">
            <a:off x="11586184" y="1906546"/>
            <a:ext cx="5673116" cy="7351754"/>
            <a:chOff x="0" y="0"/>
            <a:chExt cx="1592866" cy="2064185"/>
          </a:xfrm>
        </p:grpSpPr>
        <p:sp>
          <p:nvSpPr>
            <p:cNvPr name="Freeform 9" id="9"/>
            <p:cNvSpPr/>
            <p:nvPr/>
          </p:nvSpPr>
          <p:spPr>
            <a:xfrm flipH="false" flipV="false" rot="0">
              <a:off x="0" y="0"/>
              <a:ext cx="1592866" cy="2064185"/>
            </a:xfrm>
            <a:custGeom>
              <a:avLst/>
              <a:gdLst/>
              <a:ahLst/>
              <a:cxnLst/>
              <a:rect r="r" b="b" t="t" l="l"/>
              <a:pathLst>
                <a:path h="2064185" w="1592866">
                  <a:moveTo>
                    <a:pt x="31387" y="0"/>
                  </a:moveTo>
                  <a:lnTo>
                    <a:pt x="1561479" y="0"/>
                  </a:lnTo>
                  <a:cubicBezTo>
                    <a:pt x="1569803" y="0"/>
                    <a:pt x="1577786" y="3307"/>
                    <a:pt x="1583673" y="9193"/>
                  </a:cubicBezTo>
                  <a:cubicBezTo>
                    <a:pt x="1589559" y="15079"/>
                    <a:pt x="1592866" y="23063"/>
                    <a:pt x="1592866" y="31387"/>
                  </a:cubicBezTo>
                  <a:lnTo>
                    <a:pt x="1592866" y="2032797"/>
                  </a:lnTo>
                  <a:cubicBezTo>
                    <a:pt x="1592866" y="2050132"/>
                    <a:pt x="1578813" y="2064185"/>
                    <a:pt x="1561479" y="2064185"/>
                  </a:cubicBezTo>
                  <a:lnTo>
                    <a:pt x="31387" y="2064185"/>
                  </a:lnTo>
                  <a:cubicBezTo>
                    <a:pt x="23063" y="2064185"/>
                    <a:pt x="15079" y="2060878"/>
                    <a:pt x="9193" y="2054991"/>
                  </a:cubicBezTo>
                  <a:cubicBezTo>
                    <a:pt x="3307" y="2049105"/>
                    <a:pt x="0" y="2041122"/>
                    <a:pt x="0" y="2032797"/>
                  </a:cubicBezTo>
                  <a:lnTo>
                    <a:pt x="0" y="31387"/>
                  </a:lnTo>
                  <a:cubicBezTo>
                    <a:pt x="0" y="23063"/>
                    <a:pt x="3307" y="15079"/>
                    <a:pt x="9193" y="9193"/>
                  </a:cubicBezTo>
                  <a:cubicBezTo>
                    <a:pt x="15079" y="3307"/>
                    <a:pt x="23063" y="0"/>
                    <a:pt x="31387" y="0"/>
                  </a:cubicBezTo>
                  <a:close/>
                </a:path>
              </a:pathLst>
            </a:custGeom>
            <a:blipFill>
              <a:blip r:embed="rId4"/>
              <a:stretch>
                <a:fillRect l="-539" t="0" r="-539" b="0"/>
              </a:stretch>
            </a:blipFill>
            <a:ln w="19050" cap="rnd">
              <a:solidFill>
                <a:srgbClr val="000000"/>
              </a:solidFill>
              <a:prstDash val="solid"/>
              <a:round/>
            </a:ln>
          </p:spPr>
        </p:sp>
      </p:grpSp>
      <p:grpSp>
        <p:nvGrpSpPr>
          <p:cNvPr name="Group 10" id="10"/>
          <p:cNvGrpSpPr/>
          <p:nvPr/>
        </p:nvGrpSpPr>
        <p:grpSpPr>
          <a:xfrm rot="0">
            <a:off x="1028700" y="5594590"/>
            <a:ext cx="4918564" cy="3692142"/>
            <a:chOff x="0" y="0"/>
            <a:chExt cx="1295424" cy="972416"/>
          </a:xfrm>
        </p:grpSpPr>
        <p:sp>
          <p:nvSpPr>
            <p:cNvPr name="Freeform 11" id="11"/>
            <p:cNvSpPr/>
            <p:nvPr/>
          </p:nvSpPr>
          <p:spPr>
            <a:xfrm flipH="false" flipV="false" rot="0">
              <a:off x="0" y="0"/>
              <a:ext cx="1295424" cy="972416"/>
            </a:xfrm>
            <a:custGeom>
              <a:avLst/>
              <a:gdLst/>
              <a:ahLst/>
              <a:cxnLst/>
              <a:rect r="r" b="b" t="t" l="l"/>
              <a:pathLst>
                <a:path h="972416" w="1295424">
                  <a:moveTo>
                    <a:pt x="78701" y="0"/>
                  </a:moveTo>
                  <a:lnTo>
                    <a:pt x="1216723" y="0"/>
                  </a:lnTo>
                  <a:cubicBezTo>
                    <a:pt x="1260188" y="0"/>
                    <a:pt x="1295424" y="35236"/>
                    <a:pt x="1295424" y="78701"/>
                  </a:cubicBezTo>
                  <a:lnTo>
                    <a:pt x="1295424" y="893715"/>
                  </a:lnTo>
                  <a:cubicBezTo>
                    <a:pt x="1295424" y="937180"/>
                    <a:pt x="1260188" y="972416"/>
                    <a:pt x="1216723" y="972416"/>
                  </a:cubicBezTo>
                  <a:lnTo>
                    <a:pt x="78701" y="972416"/>
                  </a:lnTo>
                  <a:cubicBezTo>
                    <a:pt x="35236" y="972416"/>
                    <a:pt x="0" y="937180"/>
                    <a:pt x="0" y="893715"/>
                  </a:cubicBezTo>
                  <a:lnTo>
                    <a:pt x="0" y="78701"/>
                  </a:lnTo>
                  <a:cubicBezTo>
                    <a:pt x="0" y="35236"/>
                    <a:pt x="35236" y="0"/>
                    <a:pt x="78701" y="0"/>
                  </a:cubicBezTo>
                  <a:close/>
                </a:path>
              </a:pathLst>
            </a:custGeom>
            <a:gradFill rotWithShape="true">
              <a:gsLst>
                <a:gs pos="0">
                  <a:srgbClr val="593B8A">
                    <a:alpha val="100000"/>
                  </a:srgbClr>
                </a:gs>
                <a:gs pos="100000">
                  <a:srgbClr val="A07DD8">
                    <a:alpha val="100000"/>
                  </a:srgbClr>
                </a:gs>
              </a:gsLst>
              <a:lin ang="5400000"/>
            </a:gradFill>
            <a:ln w="19050" cap="rnd">
              <a:solidFill>
                <a:srgbClr val="000000"/>
              </a:solidFill>
              <a:prstDash val="solid"/>
              <a:round/>
            </a:ln>
          </p:spPr>
        </p:sp>
        <p:sp>
          <p:nvSpPr>
            <p:cNvPr name="TextBox 12" id="12"/>
            <p:cNvSpPr txBox="true"/>
            <p:nvPr/>
          </p:nvSpPr>
          <p:spPr>
            <a:xfrm>
              <a:off x="0" y="-38100"/>
              <a:ext cx="1295424" cy="1010516"/>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6307442" y="5594590"/>
            <a:ext cx="4918564" cy="3692142"/>
            <a:chOff x="0" y="0"/>
            <a:chExt cx="1295424" cy="972416"/>
          </a:xfrm>
        </p:grpSpPr>
        <p:sp>
          <p:nvSpPr>
            <p:cNvPr name="Freeform 14" id="14"/>
            <p:cNvSpPr/>
            <p:nvPr/>
          </p:nvSpPr>
          <p:spPr>
            <a:xfrm flipH="false" flipV="false" rot="0">
              <a:off x="0" y="0"/>
              <a:ext cx="1295424" cy="972416"/>
            </a:xfrm>
            <a:custGeom>
              <a:avLst/>
              <a:gdLst/>
              <a:ahLst/>
              <a:cxnLst/>
              <a:rect r="r" b="b" t="t" l="l"/>
              <a:pathLst>
                <a:path h="972416" w="1295424">
                  <a:moveTo>
                    <a:pt x="78701" y="0"/>
                  </a:moveTo>
                  <a:lnTo>
                    <a:pt x="1216723" y="0"/>
                  </a:lnTo>
                  <a:cubicBezTo>
                    <a:pt x="1260188" y="0"/>
                    <a:pt x="1295424" y="35236"/>
                    <a:pt x="1295424" y="78701"/>
                  </a:cubicBezTo>
                  <a:lnTo>
                    <a:pt x="1295424" y="893715"/>
                  </a:lnTo>
                  <a:cubicBezTo>
                    <a:pt x="1295424" y="937180"/>
                    <a:pt x="1260188" y="972416"/>
                    <a:pt x="1216723" y="972416"/>
                  </a:cubicBezTo>
                  <a:lnTo>
                    <a:pt x="78701" y="972416"/>
                  </a:lnTo>
                  <a:cubicBezTo>
                    <a:pt x="35236" y="972416"/>
                    <a:pt x="0" y="937180"/>
                    <a:pt x="0" y="893715"/>
                  </a:cubicBezTo>
                  <a:lnTo>
                    <a:pt x="0" y="78701"/>
                  </a:lnTo>
                  <a:cubicBezTo>
                    <a:pt x="0" y="35236"/>
                    <a:pt x="35236" y="0"/>
                    <a:pt x="78701" y="0"/>
                  </a:cubicBezTo>
                  <a:close/>
                </a:path>
              </a:pathLst>
            </a:custGeom>
            <a:gradFill rotWithShape="true">
              <a:gsLst>
                <a:gs pos="0">
                  <a:srgbClr val="593B8A">
                    <a:alpha val="100000"/>
                  </a:srgbClr>
                </a:gs>
                <a:gs pos="100000">
                  <a:srgbClr val="A07DD8">
                    <a:alpha val="100000"/>
                  </a:srgbClr>
                </a:gs>
              </a:gsLst>
              <a:lin ang="5400000"/>
            </a:gradFill>
            <a:ln w="19050" cap="rnd">
              <a:solidFill>
                <a:srgbClr val="000000"/>
              </a:solidFill>
              <a:prstDash val="solid"/>
              <a:round/>
            </a:ln>
          </p:spPr>
        </p:sp>
        <p:sp>
          <p:nvSpPr>
            <p:cNvPr name="TextBox 15" id="15"/>
            <p:cNvSpPr txBox="true"/>
            <p:nvPr/>
          </p:nvSpPr>
          <p:spPr>
            <a:xfrm>
              <a:off x="0" y="-38100"/>
              <a:ext cx="1295424" cy="1010516"/>
            </a:xfrm>
            <a:prstGeom prst="rect">
              <a:avLst/>
            </a:prstGeom>
          </p:spPr>
          <p:txBody>
            <a:bodyPr anchor="ctr" rtlCol="false" tIns="50800" lIns="50800" bIns="50800" rIns="50800"/>
            <a:lstStyle/>
            <a:p>
              <a:pPr algn="ctr" marL="0" indent="0" lvl="0">
                <a:lnSpc>
                  <a:spcPts val="2659"/>
                </a:lnSpc>
              </a:pPr>
            </a:p>
          </p:txBody>
        </p:sp>
      </p:grpSp>
      <p:sp>
        <p:nvSpPr>
          <p:cNvPr name="TextBox 16" id="16"/>
          <p:cNvSpPr txBox="true"/>
          <p:nvPr/>
        </p:nvSpPr>
        <p:spPr>
          <a:xfrm rot="0">
            <a:off x="1028700" y="2097046"/>
            <a:ext cx="9837127" cy="1484306"/>
          </a:xfrm>
          <a:prstGeom prst="rect">
            <a:avLst/>
          </a:prstGeom>
        </p:spPr>
        <p:txBody>
          <a:bodyPr anchor="t" rtlCol="false" tIns="0" lIns="0" bIns="0" rIns="0">
            <a:spAutoFit/>
          </a:bodyPr>
          <a:lstStyle/>
          <a:p>
            <a:pPr algn="l" marL="0" indent="0" lvl="0">
              <a:lnSpc>
                <a:spcPts val="10062"/>
              </a:lnSpc>
            </a:pPr>
            <a:r>
              <a:rPr lang="en-US" b="true" sz="10062" spc="-523">
                <a:solidFill>
                  <a:srgbClr val="222223"/>
                </a:solidFill>
                <a:latin typeface="Helvetica World Bold"/>
                <a:ea typeface="Helvetica World Bold"/>
                <a:cs typeface="Helvetica World Bold"/>
                <a:sym typeface="Helvetica World Bold"/>
              </a:rPr>
              <a:t>Technology Stack</a:t>
            </a:r>
          </a:p>
        </p:txBody>
      </p:sp>
      <p:sp>
        <p:nvSpPr>
          <p:cNvPr name="TextBox 17" id="17"/>
          <p:cNvSpPr txBox="true"/>
          <p:nvPr/>
        </p:nvSpPr>
        <p:spPr>
          <a:xfrm rot="0">
            <a:off x="1045163" y="650408"/>
            <a:ext cx="2457313" cy="531494"/>
          </a:xfrm>
          <a:prstGeom prst="rect">
            <a:avLst/>
          </a:prstGeom>
        </p:spPr>
        <p:txBody>
          <a:bodyPr anchor="t" rtlCol="false" tIns="0" lIns="0" bIns="0" rIns="0">
            <a:spAutoFit/>
          </a:bodyPr>
          <a:lstStyle/>
          <a:p>
            <a:pPr algn="l" marL="0" indent="0" lvl="0">
              <a:lnSpc>
                <a:spcPts val="4305"/>
              </a:lnSpc>
            </a:pPr>
            <a:r>
              <a:rPr lang="en-US" b="true" sz="3075" spc="-144">
                <a:solidFill>
                  <a:srgbClr val="424242"/>
                </a:solidFill>
                <a:latin typeface="Open Sauce Bold"/>
                <a:ea typeface="Open Sauce Bold"/>
                <a:cs typeface="Open Sauce Bold"/>
                <a:sym typeface="Open Sauce Bold"/>
              </a:rPr>
              <a:t>RetireWise AI</a:t>
            </a:r>
          </a:p>
        </p:txBody>
      </p:sp>
      <p:sp>
        <p:nvSpPr>
          <p:cNvPr name="TextBox 18" id="18"/>
          <p:cNvSpPr txBox="true"/>
          <p:nvPr/>
        </p:nvSpPr>
        <p:spPr>
          <a:xfrm rot="0">
            <a:off x="15292495" y="810781"/>
            <a:ext cx="1966805" cy="248738"/>
          </a:xfrm>
          <a:prstGeom prst="rect">
            <a:avLst/>
          </a:prstGeom>
        </p:spPr>
        <p:txBody>
          <a:bodyPr anchor="t" rtlCol="false" tIns="0" lIns="0" bIns="0" rIns="0">
            <a:spAutoFit/>
          </a:bodyPr>
          <a:lstStyle/>
          <a:p>
            <a:pPr algn="ctr" marL="0" indent="0" lvl="0">
              <a:lnSpc>
                <a:spcPts val="2040"/>
              </a:lnSpc>
              <a:spcBef>
                <a:spcPct val="0"/>
              </a:spcBef>
            </a:pPr>
            <a:r>
              <a:rPr lang="en-US" sz="1457" spc="-75">
                <a:solidFill>
                  <a:srgbClr val="FFFFFF"/>
                </a:solidFill>
                <a:latin typeface="Inter"/>
                <a:ea typeface="Inter"/>
                <a:cs typeface="Inter"/>
                <a:sym typeface="Inter"/>
              </a:rPr>
              <a:t>June 11, 2025</a:t>
            </a:r>
          </a:p>
        </p:txBody>
      </p:sp>
      <p:sp>
        <p:nvSpPr>
          <p:cNvPr name="TextBox 19" id="19"/>
          <p:cNvSpPr txBox="true"/>
          <p:nvPr/>
        </p:nvSpPr>
        <p:spPr>
          <a:xfrm rot="0">
            <a:off x="1045163" y="3978515"/>
            <a:ext cx="9432706" cy="1044611"/>
          </a:xfrm>
          <a:prstGeom prst="rect">
            <a:avLst/>
          </a:prstGeom>
        </p:spPr>
        <p:txBody>
          <a:bodyPr anchor="t" rtlCol="false" tIns="0" lIns="0" bIns="0" rIns="0">
            <a:spAutoFit/>
          </a:bodyPr>
          <a:lstStyle/>
          <a:p>
            <a:pPr algn="l" marL="0" indent="0" lvl="0">
              <a:lnSpc>
                <a:spcPts val="2798"/>
              </a:lnSpc>
            </a:pPr>
            <a:r>
              <a:rPr lang="en-US" sz="1998" spc="-79">
                <a:solidFill>
                  <a:srgbClr val="393939"/>
                </a:solidFill>
                <a:latin typeface="DM Sans"/>
                <a:ea typeface="DM Sans"/>
                <a:cs typeface="DM Sans"/>
                <a:sym typeface="DM Sans"/>
              </a:rPr>
              <a:t>Built on credible, modern technologies — RetireWise AI combines a robust financial engine with intelligent AI explanation layers, deployed for real-world reliability and scalability.</a:t>
            </a:r>
          </a:p>
        </p:txBody>
      </p:sp>
      <p:sp>
        <p:nvSpPr>
          <p:cNvPr name="TextBox 20" id="20"/>
          <p:cNvSpPr txBox="true"/>
          <p:nvPr/>
        </p:nvSpPr>
        <p:spPr>
          <a:xfrm rot="0">
            <a:off x="1483739" y="6166090"/>
            <a:ext cx="4037472" cy="507659"/>
          </a:xfrm>
          <a:prstGeom prst="rect">
            <a:avLst/>
          </a:prstGeom>
        </p:spPr>
        <p:txBody>
          <a:bodyPr anchor="t" rtlCol="false" tIns="0" lIns="0" bIns="0" rIns="0">
            <a:spAutoFit/>
          </a:bodyPr>
          <a:lstStyle/>
          <a:p>
            <a:pPr algn="l" marL="0" indent="0" lvl="0">
              <a:lnSpc>
                <a:spcPts val="3486"/>
              </a:lnSpc>
            </a:pPr>
            <a:r>
              <a:rPr lang="en-US" b="true" sz="3486" spc="-181">
                <a:solidFill>
                  <a:srgbClr val="FFFFFF"/>
                </a:solidFill>
                <a:latin typeface="Helvetica World Bold"/>
                <a:ea typeface="Helvetica World Bold"/>
                <a:cs typeface="Helvetica World Bold"/>
                <a:sym typeface="Helvetica World Bold"/>
              </a:rPr>
              <a:t>Core Platform</a:t>
            </a:r>
          </a:p>
        </p:txBody>
      </p:sp>
      <p:sp>
        <p:nvSpPr>
          <p:cNvPr name="TextBox 21" id="21"/>
          <p:cNvSpPr txBox="true"/>
          <p:nvPr/>
        </p:nvSpPr>
        <p:spPr>
          <a:xfrm rot="0">
            <a:off x="6762481" y="6166090"/>
            <a:ext cx="4037472" cy="507659"/>
          </a:xfrm>
          <a:prstGeom prst="rect">
            <a:avLst/>
          </a:prstGeom>
        </p:spPr>
        <p:txBody>
          <a:bodyPr anchor="t" rtlCol="false" tIns="0" lIns="0" bIns="0" rIns="0">
            <a:spAutoFit/>
          </a:bodyPr>
          <a:lstStyle/>
          <a:p>
            <a:pPr algn="l" marL="0" indent="0" lvl="0">
              <a:lnSpc>
                <a:spcPts val="3486"/>
              </a:lnSpc>
            </a:pPr>
            <a:r>
              <a:rPr lang="en-US" b="true" sz="3486" spc="-181">
                <a:solidFill>
                  <a:srgbClr val="FFFFFF"/>
                </a:solidFill>
                <a:latin typeface="Helvetica World Bold"/>
                <a:ea typeface="Helvetica World Bold"/>
                <a:cs typeface="Helvetica World Bold"/>
                <a:sym typeface="Helvetica World Bold"/>
              </a:rPr>
              <a:t>AI &amp; Analytics</a:t>
            </a:r>
          </a:p>
        </p:txBody>
      </p:sp>
      <p:sp>
        <p:nvSpPr>
          <p:cNvPr name="TextBox 22" id="22"/>
          <p:cNvSpPr txBox="true"/>
          <p:nvPr/>
        </p:nvSpPr>
        <p:spPr>
          <a:xfrm rot="0">
            <a:off x="1483739" y="7038666"/>
            <a:ext cx="4037472" cy="1249712"/>
          </a:xfrm>
          <a:prstGeom prst="rect">
            <a:avLst/>
          </a:prstGeom>
        </p:spPr>
        <p:txBody>
          <a:bodyPr anchor="t" rtlCol="false" tIns="0" lIns="0" bIns="0" rIns="0">
            <a:spAutoFit/>
          </a:bodyPr>
          <a:lstStyle/>
          <a:p>
            <a:pPr algn="l" marL="0" indent="0" lvl="0">
              <a:lnSpc>
                <a:spcPts val="2518"/>
              </a:lnSpc>
            </a:pPr>
            <a:r>
              <a:rPr lang="en-US" sz="1798" spc="-71">
                <a:solidFill>
                  <a:srgbClr val="FFFFFF"/>
                </a:solidFill>
                <a:latin typeface="DM Sans"/>
                <a:ea typeface="DM Sans"/>
                <a:cs typeface="DM Sans"/>
                <a:sym typeface="DM Sans"/>
              </a:rPr>
              <a:t>Python · Streamlit Web UI · Deterministic Financial Engine · PostgreSQL / SQLite Database · Git &amp; GitHub Version Control · Cloud Deployment Infrastructure</a:t>
            </a:r>
          </a:p>
        </p:txBody>
      </p:sp>
      <p:sp>
        <p:nvSpPr>
          <p:cNvPr name="TextBox 23" id="23"/>
          <p:cNvSpPr txBox="true"/>
          <p:nvPr/>
        </p:nvSpPr>
        <p:spPr>
          <a:xfrm rot="0">
            <a:off x="6762481" y="7038666"/>
            <a:ext cx="4037472" cy="1564037"/>
          </a:xfrm>
          <a:prstGeom prst="rect">
            <a:avLst/>
          </a:prstGeom>
        </p:spPr>
        <p:txBody>
          <a:bodyPr anchor="t" rtlCol="false" tIns="0" lIns="0" bIns="0" rIns="0">
            <a:spAutoFit/>
          </a:bodyPr>
          <a:lstStyle/>
          <a:p>
            <a:pPr algn="l" marL="0" indent="0" lvl="0">
              <a:lnSpc>
                <a:spcPts val="2518"/>
              </a:lnSpc>
            </a:pPr>
            <a:r>
              <a:rPr lang="en-US" sz="1798" spc="-71">
                <a:solidFill>
                  <a:srgbClr val="FFFFFF"/>
                </a:solidFill>
                <a:latin typeface="DM Sans"/>
                <a:ea typeface="DM Sans"/>
                <a:cs typeface="DM Sans"/>
                <a:sym typeface="DM Sans"/>
              </a:rPr>
              <a:t>Plotly Interactive Charts · LLM API (AI Explanation Layer) · Automated PDF Report Generation · Scenario Stress-Testing Engine · Risk &amp; Capacity Calculation Modules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EF9"/>
        </a:solidFill>
      </p:bgPr>
    </p:bg>
    <p:spTree>
      <p:nvGrpSpPr>
        <p:cNvPr id="1" name=""/>
        <p:cNvGrpSpPr/>
        <p:nvPr/>
      </p:nvGrpSpPr>
      <p:grpSpPr>
        <a:xfrm>
          <a:off x="0" y="0"/>
          <a:ext cx="0" cy="0"/>
          <a:chOff x="0" y="0"/>
          <a:chExt cx="0" cy="0"/>
        </a:xfrm>
      </p:grpSpPr>
      <p:sp>
        <p:nvSpPr>
          <p:cNvPr name="AutoShape 2" id="2"/>
          <p:cNvSpPr/>
          <p:nvPr/>
        </p:nvSpPr>
        <p:spPr>
          <a:xfrm>
            <a:off x="1045163" y="1411559"/>
            <a:ext cx="16214137" cy="0"/>
          </a:xfrm>
          <a:prstGeom prst="line">
            <a:avLst/>
          </a:prstGeom>
          <a:ln cap="flat" w="19050">
            <a:solidFill>
              <a:srgbClr val="424242"/>
            </a:solidFill>
            <a:prstDash val="solid"/>
            <a:headEnd type="none" len="sm" w="sm"/>
            <a:tailEnd type="none" len="sm" w="sm"/>
          </a:ln>
        </p:spPr>
      </p:sp>
      <p:sp>
        <p:nvSpPr>
          <p:cNvPr name="Freeform 3" id="3"/>
          <p:cNvSpPr/>
          <p:nvPr/>
        </p:nvSpPr>
        <p:spPr>
          <a:xfrm flipH="false" flipV="false" rot="-699989">
            <a:off x="8352473" y="4652140"/>
            <a:ext cx="12899683" cy="8326159"/>
          </a:xfrm>
          <a:custGeom>
            <a:avLst/>
            <a:gdLst/>
            <a:ahLst/>
            <a:cxnLst/>
            <a:rect r="r" b="b" t="t" l="l"/>
            <a:pathLst>
              <a:path h="8326159" w="12899683">
                <a:moveTo>
                  <a:pt x="0" y="0"/>
                </a:moveTo>
                <a:lnTo>
                  <a:pt x="12899683" y="0"/>
                </a:lnTo>
                <a:lnTo>
                  <a:pt x="12899683" y="8326159"/>
                </a:lnTo>
                <a:lnTo>
                  <a:pt x="0" y="8326159"/>
                </a:lnTo>
                <a:lnTo>
                  <a:pt x="0" y="0"/>
                </a:lnTo>
                <a:close/>
              </a:path>
            </a:pathLst>
          </a:custGeom>
          <a:blipFill>
            <a:blip r:embed="rId2">
              <a:alphaModFix amt="31999"/>
            </a:blip>
            <a:stretch>
              <a:fillRect l="0" t="0" r="0" b="0"/>
            </a:stretch>
          </a:blipFill>
        </p:spPr>
      </p:sp>
      <p:sp>
        <p:nvSpPr>
          <p:cNvPr name="Freeform 4" id="4"/>
          <p:cNvSpPr/>
          <p:nvPr/>
        </p:nvSpPr>
        <p:spPr>
          <a:xfrm flipH="true" flipV="false" rot="4113877">
            <a:off x="-1571649" y="-2208254"/>
            <a:ext cx="7690935" cy="8229600"/>
          </a:xfrm>
          <a:custGeom>
            <a:avLst/>
            <a:gdLst/>
            <a:ahLst/>
            <a:cxnLst/>
            <a:rect r="r" b="b" t="t" l="l"/>
            <a:pathLst>
              <a:path h="8229600" w="7690935">
                <a:moveTo>
                  <a:pt x="7690936" y="0"/>
                </a:moveTo>
                <a:lnTo>
                  <a:pt x="0" y="0"/>
                </a:lnTo>
                <a:lnTo>
                  <a:pt x="0" y="8229600"/>
                </a:lnTo>
                <a:lnTo>
                  <a:pt x="7690936" y="8229600"/>
                </a:lnTo>
                <a:lnTo>
                  <a:pt x="7690936" y="0"/>
                </a:lnTo>
                <a:close/>
              </a:path>
            </a:pathLst>
          </a:custGeom>
          <a:blipFill>
            <a:blip r:embed="rId3">
              <a:alphaModFix amt="24000"/>
            </a:blip>
            <a:stretch>
              <a:fillRect l="0" t="0" r="0" b="0"/>
            </a:stretch>
          </a:blipFill>
        </p:spPr>
      </p:sp>
      <p:grpSp>
        <p:nvGrpSpPr>
          <p:cNvPr name="Group 5" id="5"/>
          <p:cNvGrpSpPr/>
          <p:nvPr/>
        </p:nvGrpSpPr>
        <p:grpSpPr>
          <a:xfrm rot="0">
            <a:off x="15292495" y="717002"/>
            <a:ext cx="1966805" cy="464845"/>
            <a:chOff x="0" y="0"/>
            <a:chExt cx="518006" cy="122428"/>
          </a:xfrm>
        </p:grpSpPr>
        <p:sp>
          <p:nvSpPr>
            <p:cNvPr name="Freeform 6" id="6"/>
            <p:cNvSpPr/>
            <p:nvPr/>
          </p:nvSpPr>
          <p:spPr>
            <a:xfrm flipH="false" flipV="false" rot="0">
              <a:off x="0" y="0"/>
              <a:ext cx="518006" cy="122428"/>
            </a:xfrm>
            <a:custGeom>
              <a:avLst/>
              <a:gdLst/>
              <a:ahLst/>
              <a:cxnLst/>
              <a:rect r="r" b="b" t="t" l="l"/>
              <a:pathLst>
                <a:path h="122428" w="518006">
                  <a:moveTo>
                    <a:pt x="61214" y="0"/>
                  </a:moveTo>
                  <a:lnTo>
                    <a:pt x="456792" y="0"/>
                  </a:lnTo>
                  <a:cubicBezTo>
                    <a:pt x="490600" y="0"/>
                    <a:pt x="518006" y="27406"/>
                    <a:pt x="518006" y="61214"/>
                  </a:cubicBezTo>
                  <a:lnTo>
                    <a:pt x="518006" y="61214"/>
                  </a:lnTo>
                  <a:cubicBezTo>
                    <a:pt x="518006" y="95022"/>
                    <a:pt x="490600" y="122428"/>
                    <a:pt x="456792" y="122428"/>
                  </a:cubicBezTo>
                  <a:lnTo>
                    <a:pt x="61214" y="122428"/>
                  </a:lnTo>
                  <a:cubicBezTo>
                    <a:pt x="27406" y="122428"/>
                    <a:pt x="0" y="95022"/>
                    <a:pt x="0" y="61214"/>
                  </a:cubicBezTo>
                  <a:lnTo>
                    <a:pt x="0" y="61214"/>
                  </a:lnTo>
                  <a:cubicBezTo>
                    <a:pt x="0" y="27406"/>
                    <a:pt x="27406" y="0"/>
                    <a:pt x="61214" y="0"/>
                  </a:cubicBezTo>
                  <a:close/>
                </a:path>
              </a:pathLst>
            </a:custGeom>
            <a:solidFill>
              <a:srgbClr val="593B8A"/>
            </a:solidFill>
            <a:ln w="19050" cap="rnd">
              <a:solidFill>
                <a:srgbClr val="29241F"/>
              </a:solidFill>
              <a:prstDash val="solid"/>
              <a:round/>
            </a:ln>
          </p:spPr>
        </p:sp>
        <p:sp>
          <p:nvSpPr>
            <p:cNvPr name="TextBox 7" id="7"/>
            <p:cNvSpPr txBox="true"/>
            <p:nvPr/>
          </p:nvSpPr>
          <p:spPr>
            <a:xfrm>
              <a:off x="0" y="-38100"/>
              <a:ext cx="518006" cy="160528"/>
            </a:xfrm>
            <a:prstGeom prst="rect">
              <a:avLst/>
            </a:prstGeom>
          </p:spPr>
          <p:txBody>
            <a:bodyPr anchor="ctr" rtlCol="false" tIns="50800" lIns="50800" bIns="50800" rIns="50800"/>
            <a:lstStyle/>
            <a:p>
              <a:pPr algn="ctr" marL="0" indent="0" lvl="0">
                <a:lnSpc>
                  <a:spcPts val="2741"/>
                </a:lnSpc>
              </a:pPr>
            </a:p>
          </p:txBody>
        </p:sp>
      </p:grpSp>
      <p:grpSp>
        <p:nvGrpSpPr>
          <p:cNvPr name="Group 8" id="8"/>
          <p:cNvGrpSpPr/>
          <p:nvPr/>
        </p:nvGrpSpPr>
        <p:grpSpPr>
          <a:xfrm rot="0">
            <a:off x="1028700" y="5594590"/>
            <a:ext cx="4918564" cy="3692142"/>
            <a:chOff x="0" y="0"/>
            <a:chExt cx="1295424" cy="972416"/>
          </a:xfrm>
        </p:grpSpPr>
        <p:sp>
          <p:nvSpPr>
            <p:cNvPr name="Freeform 9" id="9"/>
            <p:cNvSpPr/>
            <p:nvPr/>
          </p:nvSpPr>
          <p:spPr>
            <a:xfrm flipH="false" flipV="false" rot="0">
              <a:off x="0" y="0"/>
              <a:ext cx="1295424" cy="972416"/>
            </a:xfrm>
            <a:custGeom>
              <a:avLst/>
              <a:gdLst/>
              <a:ahLst/>
              <a:cxnLst/>
              <a:rect r="r" b="b" t="t" l="l"/>
              <a:pathLst>
                <a:path h="972416" w="1295424">
                  <a:moveTo>
                    <a:pt x="78701" y="0"/>
                  </a:moveTo>
                  <a:lnTo>
                    <a:pt x="1216723" y="0"/>
                  </a:lnTo>
                  <a:cubicBezTo>
                    <a:pt x="1260188" y="0"/>
                    <a:pt x="1295424" y="35236"/>
                    <a:pt x="1295424" y="78701"/>
                  </a:cubicBezTo>
                  <a:lnTo>
                    <a:pt x="1295424" y="893715"/>
                  </a:lnTo>
                  <a:cubicBezTo>
                    <a:pt x="1295424" y="937180"/>
                    <a:pt x="1260188" y="972416"/>
                    <a:pt x="1216723" y="972416"/>
                  </a:cubicBezTo>
                  <a:lnTo>
                    <a:pt x="78701" y="972416"/>
                  </a:lnTo>
                  <a:cubicBezTo>
                    <a:pt x="35236" y="972416"/>
                    <a:pt x="0" y="937180"/>
                    <a:pt x="0" y="893715"/>
                  </a:cubicBezTo>
                  <a:lnTo>
                    <a:pt x="0" y="78701"/>
                  </a:lnTo>
                  <a:cubicBezTo>
                    <a:pt x="0" y="35236"/>
                    <a:pt x="35236" y="0"/>
                    <a:pt x="78701" y="0"/>
                  </a:cubicBezTo>
                  <a:close/>
                </a:path>
              </a:pathLst>
            </a:custGeom>
            <a:gradFill rotWithShape="true">
              <a:gsLst>
                <a:gs pos="0">
                  <a:srgbClr val="593B8A">
                    <a:alpha val="100000"/>
                  </a:srgbClr>
                </a:gs>
                <a:gs pos="100000">
                  <a:srgbClr val="A07DD8">
                    <a:alpha val="100000"/>
                  </a:srgbClr>
                </a:gs>
              </a:gsLst>
              <a:lin ang="5400000"/>
            </a:gradFill>
            <a:ln w="19050" cap="rnd">
              <a:solidFill>
                <a:srgbClr val="000000"/>
              </a:solidFill>
              <a:prstDash val="solid"/>
              <a:round/>
            </a:ln>
          </p:spPr>
        </p:sp>
        <p:sp>
          <p:nvSpPr>
            <p:cNvPr name="TextBox 10" id="10"/>
            <p:cNvSpPr txBox="true"/>
            <p:nvPr/>
          </p:nvSpPr>
          <p:spPr>
            <a:xfrm>
              <a:off x="0" y="-38100"/>
              <a:ext cx="1295424" cy="1010516"/>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12343032" y="5594590"/>
            <a:ext cx="4918564" cy="3692142"/>
            <a:chOff x="0" y="0"/>
            <a:chExt cx="1295424" cy="972416"/>
          </a:xfrm>
        </p:grpSpPr>
        <p:sp>
          <p:nvSpPr>
            <p:cNvPr name="Freeform 12" id="12"/>
            <p:cNvSpPr/>
            <p:nvPr/>
          </p:nvSpPr>
          <p:spPr>
            <a:xfrm flipH="false" flipV="false" rot="0">
              <a:off x="0" y="0"/>
              <a:ext cx="1295424" cy="972416"/>
            </a:xfrm>
            <a:custGeom>
              <a:avLst/>
              <a:gdLst/>
              <a:ahLst/>
              <a:cxnLst/>
              <a:rect r="r" b="b" t="t" l="l"/>
              <a:pathLst>
                <a:path h="972416" w="1295424">
                  <a:moveTo>
                    <a:pt x="78701" y="0"/>
                  </a:moveTo>
                  <a:lnTo>
                    <a:pt x="1216723" y="0"/>
                  </a:lnTo>
                  <a:cubicBezTo>
                    <a:pt x="1260188" y="0"/>
                    <a:pt x="1295424" y="35236"/>
                    <a:pt x="1295424" y="78701"/>
                  </a:cubicBezTo>
                  <a:lnTo>
                    <a:pt x="1295424" y="893715"/>
                  </a:lnTo>
                  <a:cubicBezTo>
                    <a:pt x="1295424" y="937180"/>
                    <a:pt x="1260188" y="972416"/>
                    <a:pt x="1216723" y="972416"/>
                  </a:cubicBezTo>
                  <a:lnTo>
                    <a:pt x="78701" y="972416"/>
                  </a:lnTo>
                  <a:cubicBezTo>
                    <a:pt x="35236" y="972416"/>
                    <a:pt x="0" y="937180"/>
                    <a:pt x="0" y="893715"/>
                  </a:cubicBezTo>
                  <a:lnTo>
                    <a:pt x="0" y="78701"/>
                  </a:lnTo>
                  <a:cubicBezTo>
                    <a:pt x="0" y="35236"/>
                    <a:pt x="35236" y="0"/>
                    <a:pt x="78701" y="0"/>
                  </a:cubicBezTo>
                  <a:close/>
                </a:path>
              </a:pathLst>
            </a:custGeom>
            <a:gradFill rotWithShape="true">
              <a:gsLst>
                <a:gs pos="0">
                  <a:srgbClr val="593B8A">
                    <a:alpha val="100000"/>
                  </a:srgbClr>
                </a:gs>
                <a:gs pos="100000">
                  <a:srgbClr val="A07DD8">
                    <a:alpha val="100000"/>
                  </a:srgbClr>
                </a:gs>
              </a:gsLst>
              <a:lin ang="5400000"/>
            </a:gradFill>
            <a:ln w="19050" cap="rnd">
              <a:solidFill>
                <a:srgbClr val="000000"/>
              </a:solidFill>
              <a:prstDash val="solid"/>
              <a:round/>
            </a:ln>
          </p:spPr>
        </p:sp>
        <p:sp>
          <p:nvSpPr>
            <p:cNvPr name="TextBox 13" id="13"/>
            <p:cNvSpPr txBox="true"/>
            <p:nvPr/>
          </p:nvSpPr>
          <p:spPr>
            <a:xfrm>
              <a:off x="0" y="-38100"/>
              <a:ext cx="1295424" cy="1010516"/>
            </a:xfrm>
            <a:prstGeom prst="rect">
              <a:avLst/>
            </a:prstGeom>
          </p:spPr>
          <p:txBody>
            <a:bodyPr anchor="ctr" rtlCol="false" tIns="50800" lIns="50800" bIns="50800" rIns="50800"/>
            <a:lstStyle/>
            <a:p>
              <a:pPr algn="ctr" marL="0" indent="0" lvl="0">
                <a:lnSpc>
                  <a:spcPts val="2659"/>
                </a:lnSpc>
              </a:pPr>
            </a:p>
          </p:txBody>
        </p:sp>
      </p:grpSp>
      <p:grpSp>
        <p:nvGrpSpPr>
          <p:cNvPr name="Group 14" id="14"/>
          <p:cNvGrpSpPr/>
          <p:nvPr/>
        </p:nvGrpSpPr>
        <p:grpSpPr>
          <a:xfrm rot="0">
            <a:off x="6308590" y="4855997"/>
            <a:ext cx="5673116" cy="4430735"/>
            <a:chOff x="0" y="0"/>
            <a:chExt cx="1592866" cy="1244037"/>
          </a:xfrm>
        </p:grpSpPr>
        <p:sp>
          <p:nvSpPr>
            <p:cNvPr name="Freeform 15" id="15"/>
            <p:cNvSpPr/>
            <p:nvPr/>
          </p:nvSpPr>
          <p:spPr>
            <a:xfrm flipH="false" flipV="false" rot="0">
              <a:off x="0" y="0"/>
              <a:ext cx="1592866" cy="1244037"/>
            </a:xfrm>
            <a:custGeom>
              <a:avLst/>
              <a:gdLst/>
              <a:ahLst/>
              <a:cxnLst/>
              <a:rect r="r" b="b" t="t" l="l"/>
              <a:pathLst>
                <a:path h="1244037" w="1592866">
                  <a:moveTo>
                    <a:pt x="31387" y="0"/>
                  </a:moveTo>
                  <a:lnTo>
                    <a:pt x="1561479" y="0"/>
                  </a:lnTo>
                  <a:cubicBezTo>
                    <a:pt x="1569803" y="0"/>
                    <a:pt x="1577786" y="3307"/>
                    <a:pt x="1583673" y="9193"/>
                  </a:cubicBezTo>
                  <a:cubicBezTo>
                    <a:pt x="1589559" y="15079"/>
                    <a:pt x="1592866" y="23063"/>
                    <a:pt x="1592866" y="31387"/>
                  </a:cubicBezTo>
                  <a:lnTo>
                    <a:pt x="1592866" y="1212650"/>
                  </a:lnTo>
                  <a:cubicBezTo>
                    <a:pt x="1592866" y="1220974"/>
                    <a:pt x="1589559" y="1228958"/>
                    <a:pt x="1583673" y="1234844"/>
                  </a:cubicBezTo>
                  <a:cubicBezTo>
                    <a:pt x="1577786" y="1240730"/>
                    <a:pt x="1569803" y="1244037"/>
                    <a:pt x="1561479" y="1244037"/>
                  </a:cubicBezTo>
                  <a:lnTo>
                    <a:pt x="31387" y="1244037"/>
                  </a:lnTo>
                  <a:cubicBezTo>
                    <a:pt x="14053" y="1244037"/>
                    <a:pt x="0" y="1229984"/>
                    <a:pt x="0" y="1212650"/>
                  </a:cubicBezTo>
                  <a:lnTo>
                    <a:pt x="0" y="31387"/>
                  </a:lnTo>
                  <a:cubicBezTo>
                    <a:pt x="0" y="23063"/>
                    <a:pt x="3307" y="15079"/>
                    <a:pt x="9193" y="9193"/>
                  </a:cubicBezTo>
                  <a:cubicBezTo>
                    <a:pt x="15079" y="3307"/>
                    <a:pt x="23063" y="0"/>
                    <a:pt x="31387" y="0"/>
                  </a:cubicBezTo>
                  <a:close/>
                </a:path>
              </a:pathLst>
            </a:custGeom>
            <a:blipFill>
              <a:blip r:embed="rId4"/>
              <a:stretch>
                <a:fillRect l="-64" t="0" r="-64" b="0"/>
              </a:stretch>
            </a:blipFill>
            <a:ln w="19050" cap="rnd">
              <a:solidFill>
                <a:srgbClr val="000000"/>
              </a:solidFill>
              <a:prstDash val="solid"/>
              <a:round/>
            </a:ln>
          </p:spPr>
        </p:sp>
      </p:grpSp>
      <p:sp>
        <p:nvSpPr>
          <p:cNvPr name="TextBox 16" id="16"/>
          <p:cNvSpPr txBox="true"/>
          <p:nvPr/>
        </p:nvSpPr>
        <p:spPr>
          <a:xfrm rot="0">
            <a:off x="1028700" y="1859234"/>
            <a:ext cx="16230600" cy="1690766"/>
          </a:xfrm>
          <a:prstGeom prst="rect">
            <a:avLst/>
          </a:prstGeom>
        </p:spPr>
        <p:txBody>
          <a:bodyPr anchor="t" rtlCol="false" tIns="0" lIns="0" bIns="0" rIns="0">
            <a:spAutoFit/>
          </a:bodyPr>
          <a:lstStyle/>
          <a:p>
            <a:pPr algn="ctr" marL="0" indent="0" lvl="0">
              <a:lnSpc>
                <a:spcPts val="11440"/>
              </a:lnSpc>
            </a:pPr>
            <a:r>
              <a:rPr lang="en-US" b="true" sz="11440" spc="-594">
                <a:solidFill>
                  <a:srgbClr val="222223"/>
                </a:solidFill>
                <a:latin typeface="Helvetica World Bold"/>
                <a:ea typeface="Helvetica World Bold"/>
                <a:cs typeface="Helvetica World Bold"/>
                <a:sym typeface="Helvetica World Bold"/>
              </a:rPr>
              <a:t>What Makes It Intelligent?</a:t>
            </a:r>
          </a:p>
        </p:txBody>
      </p:sp>
      <p:sp>
        <p:nvSpPr>
          <p:cNvPr name="TextBox 17" id="17"/>
          <p:cNvSpPr txBox="true"/>
          <p:nvPr/>
        </p:nvSpPr>
        <p:spPr>
          <a:xfrm rot="0">
            <a:off x="1045163" y="650408"/>
            <a:ext cx="2457313" cy="531494"/>
          </a:xfrm>
          <a:prstGeom prst="rect">
            <a:avLst/>
          </a:prstGeom>
        </p:spPr>
        <p:txBody>
          <a:bodyPr anchor="t" rtlCol="false" tIns="0" lIns="0" bIns="0" rIns="0">
            <a:spAutoFit/>
          </a:bodyPr>
          <a:lstStyle/>
          <a:p>
            <a:pPr algn="l" marL="0" indent="0" lvl="0">
              <a:lnSpc>
                <a:spcPts val="4305"/>
              </a:lnSpc>
            </a:pPr>
            <a:r>
              <a:rPr lang="en-US" b="true" sz="3075" spc="-144">
                <a:solidFill>
                  <a:srgbClr val="424242"/>
                </a:solidFill>
                <a:latin typeface="Open Sauce Bold"/>
                <a:ea typeface="Open Sauce Bold"/>
                <a:cs typeface="Open Sauce Bold"/>
                <a:sym typeface="Open Sauce Bold"/>
              </a:rPr>
              <a:t>RetireWise AI</a:t>
            </a:r>
          </a:p>
        </p:txBody>
      </p:sp>
      <p:sp>
        <p:nvSpPr>
          <p:cNvPr name="TextBox 18" id="18"/>
          <p:cNvSpPr txBox="true"/>
          <p:nvPr/>
        </p:nvSpPr>
        <p:spPr>
          <a:xfrm rot="0">
            <a:off x="15292495" y="810781"/>
            <a:ext cx="1966805" cy="207645"/>
          </a:xfrm>
          <a:prstGeom prst="rect">
            <a:avLst/>
          </a:prstGeom>
        </p:spPr>
        <p:txBody>
          <a:bodyPr anchor="t" rtlCol="false" tIns="0" lIns="0" bIns="0" rIns="0">
            <a:spAutoFit/>
          </a:bodyPr>
          <a:lstStyle/>
          <a:p>
            <a:pPr algn="ctr" marL="0" indent="0" lvl="0">
              <a:lnSpc>
                <a:spcPts val="1679"/>
              </a:lnSpc>
              <a:spcBef>
                <a:spcPct val="0"/>
              </a:spcBef>
            </a:pPr>
            <a:r>
              <a:rPr lang="en-US" sz="1200" spc="-62">
                <a:solidFill>
                  <a:srgbClr val="FFFFFF"/>
                </a:solidFill>
                <a:latin typeface="Inter"/>
                <a:ea typeface="Inter"/>
                <a:cs typeface="Inter"/>
                <a:sym typeface="Inter"/>
              </a:rPr>
              <a:t>June 11, 2025</a:t>
            </a:r>
          </a:p>
        </p:txBody>
      </p:sp>
      <p:sp>
        <p:nvSpPr>
          <p:cNvPr name="TextBox 19" id="19"/>
          <p:cNvSpPr txBox="true"/>
          <p:nvPr/>
        </p:nvSpPr>
        <p:spPr>
          <a:xfrm rot="0">
            <a:off x="2273819" y="3712529"/>
            <a:ext cx="13757151" cy="558270"/>
          </a:xfrm>
          <a:prstGeom prst="rect">
            <a:avLst/>
          </a:prstGeom>
        </p:spPr>
        <p:txBody>
          <a:bodyPr anchor="t" rtlCol="false" tIns="0" lIns="0" bIns="0" rIns="0">
            <a:spAutoFit/>
          </a:bodyPr>
          <a:lstStyle/>
          <a:p>
            <a:pPr algn="ctr" marL="0" indent="0" lvl="0">
              <a:lnSpc>
                <a:spcPts val="2304"/>
              </a:lnSpc>
            </a:pPr>
            <a:r>
              <a:rPr lang="en-US" sz="1645" spc="-65">
                <a:solidFill>
                  <a:srgbClr val="393939"/>
                </a:solidFill>
                <a:latin typeface="DM Sans"/>
                <a:ea typeface="DM Sans"/>
                <a:cs typeface="DM Sans"/>
                <a:sym typeface="DM Sans"/>
              </a:rPr>
              <a:t>RetireWise AI combines a deterministic financial engine with a large language model — each playing a distinct, clearly defined role to deliver trustworthy and understandable retirement guidance.</a:t>
            </a:r>
          </a:p>
        </p:txBody>
      </p:sp>
      <p:sp>
        <p:nvSpPr>
          <p:cNvPr name="TextBox 20" id="20"/>
          <p:cNvSpPr txBox="true"/>
          <p:nvPr/>
        </p:nvSpPr>
        <p:spPr>
          <a:xfrm rot="0">
            <a:off x="1483739" y="6166090"/>
            <a:ext cx="4037472" cy="507659"/>
          </a:xfrm>
          <a:prstGeom prst="rect">
            <a:avLst/>
          </a:prstGeom>
        </p:spPr>
        <p:txBody>
          <a:bodyPr anchor="t" rtlCol="false" tIns="0" lIns="0" bIns="0" rIns="0">
            <a:spAutoFit/>
          </a:bodyPr>
          <a:lstStyle/>
          <a:p>
            <a:pPr algn="l" marL="0" indent="0" lvl="0">
              <a:lnSpc>
                <a:spcPts val="3486"/>
              </a:lnSpc>
            </a:pPr>
            <a:r>
              <a:rPr lang="en-US" b="true" sz="3486" spc="-181">
                <a:solidFill>
                  <a:srgbClr val="FFFFFF"/>
                </a:solidFill>
                <a:latin typeface="Helvetica World Bold"/>
                <a:ea typeface="Helvetica World Bold"/>
                <a:cs typeface="Helvetica World Bold"/>
                <a:sym typeface="Helvetica World Bold"/>
              </a:rPr>
              <a:t>Calculation Layer</a:t>
            </a:r>
          </a:p>
        </p:txBody>
      </p:sp>
      <p:sp>
        <p:nvSpPr>
          <p:cNvPr name="TextBox 21" id="21"/>
          <p:cNvSpPr txBox="true"/>
          <p:nvPr/>
        </p:nvSpPr>
        <p:spPr>
          <a:xfrm rot="0">
            <a:off x="12798072" y="6166090"/>
            <a:ext cx="4037472" cy="507659"/>
          </a:xfrm>
          <a:prstGeom prst="rect">
            <a:avLst/>
          </a:prstGeom>
        </p:spPr>
        <p:txBody>
          <a:bodyPr anchor="t" rtlCol="false" tIns="0" lIns="0" bIns="0" rIns="0">
            <a:spAutoFit/>
          </a:bodyPr>
          <a:lstStyle/>
          <a:p>
            <a:pPr algn="l" marL="0" indent="0" lvl="0">
              <a:lnSpc>
                <a:spcPts val="3486"/>
              </a:lnSpc>
            </a:pPr>
            <a:r>
              <a:rPr lang="en-US" b="true" sz="3486" spc="-181">
                <a:solidFill>
                  <a:srgbClr val="FFFFFF"/>
                </a:solidFill>
                <a:latin typeface="Helvetica World Bold"/>
                <a:ea typeface="Helvetica World Bold"/>
                <a:cs typeface="Helvetica World Bold"/>
                <a:sym typeface="Helvetica World Bold"/>
              </a:rPr>
              <a:t>AI Explanation Layer</a:t>
            </a:r>
          </a:p>
        </p:txBody>
      </p:sp>
      <p:sp>
        <p:nvSpPr>
          <p:cNvPr name="TextBox 22" id="22"/>
          <p:cNvSpPr txBox="true"/>
          <p:nvPr/>
        </p:nvSpPr>
        <p:spPr>
          <a:xfrm rot="0">
            <a:off x="1483739" y="7048191"/>
            <a:ext cx="4037472" cy="2048350"/>
          </a:xfrm>
          <a:prstGeom prst="rect">
            <a:avLst/>
          </a:prstGeom>
        </p:spPr>
        <p:txBody>
          <a:bodyPr anchor="t" rtlCol="false" tIns="0" lIns="0" bIns="0" rIns="0">
            <a:spAutoFit/>
          </a:bodyPr>
          <a:lstStyle/>
          <a:p>
            <a:pPr algn="l" marL="0" indent="0" lvl="0">
              <a:lnSpc>
                <a:spcPts val="2073"/>
              </a:lnSpc>
            </a:pPr>
            <a:r>
              <a:rPr lang="en-US" sz="1481" spc="-59">
                <a:solidFill>
                  <a:srgbClr val="FFFFFF"/>
                </a:solidFill>
                <a:latin typeface="DM Sans"/>
                <a:ea typeface="DM Sans"/>
                <a:cs typeface="DM Sans"/>
                <a:sym typeface="DM Sans"/>
              </a:rPr>
              <a:t>• Deterministic financial engine runs all core calculations</a:t>
            </a:r>
          </a:p>
          <a:p>
            <a:pPr algn="l" marL="0" indent="0" lvl="0">
              <a:lnSpc>
                <a:spcPts val="2073"/>
              </a:lnSpc>
            </a:pPr>
            <a:r>
              <a:rPr lang="en-US" sz="1481" spc="-59">
                <a:solidFill>
                  <a:srgbClr val="FFFFFF"/>
                </a:solidFill>
                <a:latin typeface="DM Sans"/>
                <a:ea typeface="DM Sans"/>
                <a:cs typeface="DM Sans"/>
                <a:sym typeface="DM Sans"/>
              </a:rPr>
              <a:t>• Risk tolerance &amp; capacity for loss engines process structured inputs</a:t>
            </a:r>
          </a:p>
          <a:p>
            <a:pPr algn="l" marL="0" indent="0" lvl="0">
              <a:lnSpc>
                <a:spcPts val="2073"/>
              </a:lnSpc>
            </a:pPr>
            <a:r>
              <a:rPr lang="en-US" sz="1481" spc="-59">
                <a:solidFill>
                  <a:srgbClr val="FFFFFF"/>
                </a:solidFill>
                <a:latin typeface="DM Sans"/>
                <a:ea typeface="DM Sans"/>
                <a:cs typeface="DM Sans"/>
                <a:sym typeface="DM Sans"/>
              </a:rPr>
              <a:t>• Scenario stress tests model inflation, market drops &amp; emergencies</a:t>
            </a:r>
          </a:p>
          <a:p>
            <a:pPr algn="l" marL="0" indent="0" lvl="0">
              <a:lnSpc>
                <a:spcPts val="2073"/>
              </a:lnSpc>
            </a:pPr>
            <a:r>
              <a:rPr lang="en-US" sz="1481" spc="-59">
                <a:solidFill>
                  <a:srgbClr val="FFFFFF"/>
                </a:solidFill>
                <a:latin typeface="DM Sans"/>
                <a:ea typeface="DM Sans"/>
                <a:cs typeface="DM Sans"/>
                <a:sym typeface="DM Sans"/>
              </a:rPr>
              <a:t>• All outputs are precise, rule-based, and fully auditable</a:t>
            </a:r>
          </a:p>
        </p:txBody>
      </p:sp>
      <p:sp>
        <p:nvSpPr>
          <p:cNvPr name="TextBox 23" id="23"/>
          <p:cNvSpPr txBox="true"/>
          <p:nvPr/>
        </p:nvSpPr>
        <p:spPr>
          <a:xfrm rot="0">
            <a:off x="12798072" y="7048191"/>
            <a:ext cx="4037472" cy="2048350"/>
          </a:xfrm>
          <a:prstGeom prst="rect">
            <a:avLst/>
          </a:prstGeom>
        </p:spPr>
        <p:txBody>
          <a:bodyPr anchor="t" rtlCol="false" tIns="0" lIns="0" bIns="0" rIns="0">
            <a:spAutoFit/>
          </a:bodyPr>
          <a:lstStyle/>
          <a:p>
            <a:pPr algn="l" marL="0" indent="0" lvl="0">
              <a:lnSpc>
                <a:spcPts val="2073"/>
              </a:lnSpc>
            </a:pPr>
            <a:r>
              <a:rPr lang="en-US" sz="1481" spc="-59">
                <a:solidFill>
                  <a:srgbClr val="FFFFFF"/>
                </a:solidFill>
                <a:latin typeface="DM Sans"/>
                <a:ea typeface="DM Sans"/>
                <a:cs typeface="DM Sans"/>
                <a:sym typeface="DM Sans"/>
              </a:rPr>
              <a:t>• LLM translates complex results into clear, plain-language summaries</a:t>
            </a:r>
          </a:p>
          <a:p>
            <a:pPr algn="l" marL="0" indent="0" lvl="0">
              <a:lnSpc>
                <a:spcPts val="2073"/>
              </a:lnSpc>
            </a:pPr>
            <a:r>
              <a:rPr lang="en-US" sz="1481" spc="-59">
                <a:solidFill>
                  <a:srgbClr val="FFFFFF"/>
                </a:solidFill>
                <a:latin typeface="DM Sans"/>
                <a:ea typeface="DM Sans"/>
                <a:cs typeface="DM Sans"/>
                <a:sym typeface="DM Sans"/>
              </a:rPr>
              <a:t>• Explains risk scores, sustainability ratings &amp; scenario outcomes</a:t>
            </a:r>
          </a:p>
          <a:p>
            <a:pPr algn="l" marL="0" indent="0" lvl="0">
              <a:lnSpc>
                <a:spcPts val="2073"/>
              </a:lnSpc>
            </a:pPr>
            <a:r>
              <a:rPr lang="en-US" sz="1481" spc="-59">
                <a:solidFill>
                  <a:srgbClr val="FFFFFF"/>
                </a:solidFill>
                <a:latin typeface="DM Sans"/>
                <a:ea typeface="DM Sans"/>
                <a:cs typeface="DM Sans"/>
                <a:sym typeface="DM Sans"/>
              </a:rPr>
              <a:t>• AI never fabricates numbers or makes unsupported decisions</a:t>
            </a:r>
          </a:p>
          <a:p>
            <a:pPr algn="l" marL="0" indent="0" lvl="0">
              <a:lnSpc>
                <a:spcPts val="2073"/>
              </a:lnSpc>
            </a:pPr>
            <a:r>
              <a:rPr lang="en-US" sz="1481" spc="-59">
                <a:solidFill>
                  <a:srgbClr val="FFFFFF"/>
                </a:solidFill>
                <a:latin typeface="DM Sans"/>
                <a:ea typeface="DM Sans"/>
                <a:cs typeface="DM Sans"/>
                <a:sym typeface="DM Sans"/>
              </a:rPr>
              <a:t>• Acts as a transparent interpreter — not an autonomous adviser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EF9"/>
        </a:solidFill>
      </p:bgPr>
    </p:bg>
    <p:spTree>
      <p:nvGrpSpPr>
        <p:cNvPr id="1" name=""/>
        <p:cNvGrpSpPr/>
        <p:nvPr/>
      </p:nvGrpSpPr>
      <p:grpSpPr>
        <a:xfrm>
          <a:off x="0" y="0"/>
          <a:ext cx="0" cy="0"/>
          <a:chOff x="0" y="0"/>
          <a:chExt cx="0" cy="0"/>
        </a:xfrm>
      </p:grpSpPr>
      <p:sp>
        <p:nvSpPr>
          <p:cNvPr name="AutoShape 2" id="2"/>
          <p:cNvSpPr/>
          <p:nvPr/>
        </p:nvSpPr>
        <p:spPr>
          <a:xfrm>
            <a:off x="1045163" y="1411559"/>
            <a:ext cx="16214137" cy="0"/>
          </a:xfrm>
          <a:prstGeom prst="line">
            <a:avLst/>
          </a:prstGeom>
          <a:ln cap="flat" w="19050">
            <a:solidFill>
              <a:srgbClr val="424242"/>
            </a:solidFill>
            <a:prstDash val="solid"/>
            <a:headEnd type="none" len="sm" w="sm"/>
            <a:tailEnd type="none" len="sm" w="sm"/>
          </a:ln>
        </p:spPr>
      </p:sp>
      <p:sp>
        <p:nvSpPr>
          <p:cNvPr name="Freeform 3" id="3"/>
          <p:cNvSpPr/>
          <p:nvPr/>
        </p:nvSpPr>
        <p:spPr>
          <a:xfrm flipH="false" flipV="false" rot="-699989">
            <a:off x="8352473" y="4652140"/>
            <a:ext cx="12899683" cy="8326159"/>
          </a:xfrm>
          <a:custGeom>
            <a:avLst/>
            <a:gdLst/>
            <a:ahLst/>
            <a:cxnLst/>
            <a:rect r="r" b="b" t="t" l="l"/>
            <a:pathLst>
              <a:path h="8326159" w="12899683">
                <a:moveTo>
                  <a:pt x="0" y="0"/>
                </a:moveTo>
                <a:lnTo>
                  <a:pt x="12899683" y="0"/>
                </a:lnTo>
                <a:lnTo>
                  <a:pt x="12899683" y="8326159"/>
                </a:lnTo>
                <a:lnTo>
                  <a:pt x="0" y="8326159"/>
                </a:lnTo>
                <a:lnTo>
                  <a:pt x="0" y="0"/>
                </a:lnTo>
                <a:close/>
              </a:path>
            </a:pathLst>
          </a:custGeom>
          <a:blipFill>
            <a:blip r:embed="rId2">
              <a:alphaModFix amt="31999"/>
            </a:blip>
            <a:stretch>
              <a:fillRect l="0" t="0" r="0" b="0"/>
            </a:stretch>
          </a:blipFill>
        </p:spPr>
      </p:sp>
      <p:sp>
        <p:nvSpPr>
          <p:cNvPr name="Freeform 4" id="4"/>
          <p:cNvSpPr/>
          <p:nvPr/>
        </p:nvSpPr>
        <p:spPr>
          <a:xfrm flipH="true" flipV="false" rot="4113877">
            <a:off x="-1571649" y="-2208254"/>
            <a:ext cx="7690935" cy="8229600"/>
          </a:xfrm>
          <a:custGeom>
            <a:avLst/>
            <a:gdLst/>
            <a:ahLst/>
            <a:cxnLst/>
            <a:rect r="r" b="b" t="t" l="l"/>
            <a:pathLst>
              <a:path h="8229600" w="7690935">
                <a:moveTo>
                  <a:pt x="7690936" y="0"/>
                </a:moveTo>
                <a:lnTo>
                  <a:pt x="0" y="0"/>
                </a:lnTo>
                <a:lnTo>
                  <a:pt x="0" y="8229600"/>
                </a:lnTo>
                <a:lnTo>
                  <a:pt x="7690936" y="8229600"/>
                </a:lnTo>
                <a:lnTo>
                  <a:pt x="7690936" y="0"/>
                </a:lnTo>
                <a:close/>
              </a:path>
            </a:pathLst>
          </a:custGeom>
          <a:blipFill>
            <a:blip r:embed="rId3">
              <a:alphaModFix amt="24000"/>
            </a:blip>
            <a:stretch>
              <a:fillRect l="0" t="0" r="0" b="0"/>
            </a:stretch>
          </a:blipFill>
        </p:spPr>
      </p:sp>
      <p:grpSp>
        <p:nvGrpSpPr>
          <p:cNvPr name="Group 5" id="5"/>
          <p:cNvGrpSpPr/>
          <p:nvPr/>
        </p:nvGrpSpPr>
        <p:grpSpPr>
          <a:xfrm rot="0">
            <a:off x="15292495" y="717002"/>
            <a:ext cx="1966805" cy="464845"/>
            <a:chOff x="0" y="0"/>
            <a:chExt cx="518006" cy="122428"/>
          </a:xfrm>
        </p:grpSpPr>
        <p:sp>
          <p:nvSpPr>
            <p:cNvPr name="Freeform 6" id="6"/>
            <p:cNvSpPr/>
            <p:nvPr/>
          </p:nvSpPr>
          <p:spPr>
            <a:xfrm flipH="false" flipV="false" rot="0">
              <a:off x="0" y="0"/>
              <a:ext cx="518006" cy="122428"/>
            </a:xfrm>
            <a:custGeom>
              <a:avLst/>
              <a:gdLst/>
              <a:ahLst/>
              <a:cxnLst/>
              <a:rect r="r" b="b" t="t" l="l"/>
              <a:pathLst>
                <a:path h="122428" w="518006">
                  <a:moveTo>
                    <a:pt x="61214" y="0"/>
                  </a:moveTo>
                  <a:lnTo>
                    <a:pt x="456792" y="0"/>
                  </a:lnTo>
                  <a:cubicBezTo>
                    <a:pt x="490600" y="0"/>
                    <a:pt x="518006" y="27406"/>
                    <a:pt x="518006" y="61214"/>
                  </a:cubicBezTo>
                  <a:lnTo>
                    <a:pt x="518006" y="61214"/>
                  </a:lnTo>
                  <a:cubicBezTo>
                    <a:pt x="518006" y="95022"/>
                    <a:pt x="490600" y="122428"/>
                    <a:pt x="456792" y="122428"/>
                  </a:cubicBezTo>
                  <a:lnTo>
                    <a:pt x="61214" y="122428"/>
                  </a:lnTo>
                  <a:cubicBezTo>
                    <a:pt x="27406" y="122428"/>
                    <a:pt x="0" y="95022"/>
                    <a:pt x="0" y="61214"/>
                  </a:cubicBezTo>
                  <a:lnTo>
                    <a:pt x="0" y="61214"/>
                  </a:lnTo>
                  <a:cubicBezTo>
                    <a:pt x="0" y="27406"/>
                    <a:pt x="27406" y="0"/>
                    <a:pt x="61214" y="0"/>
                  </a:cubicBezTo>
                  <a:close/>
                </a:path>
              </a:pathLst>
            </a:custGeom>
            <a:solidFill>
              <a:srgbClr val="593B8A"/>
            </a:solidFill>
            <a:ln w="19050" cap="rnd">
              <a:solidFill>
                <a:srgbClr val="29241F"/>
              </a:solidFill>
              <a:prstDash val="solid"/>
              <a:round/>
            </a:ln>
          </p:spPr>
        </p:sp>
        <p:sp>
          <p:nvSpPr>
            <p:cNvPr name="TextBox 7" id="7"/>
            <p:cNvSpPr txBox="true"/>
            <p:nvPr/>
          </p:nvSpPr>
          <p:spPr>
            <a:xfrm>
              <a:off x="0" y="-38100"/>
              <a:ext cx="518006" cy="160528"/>
            </a:xfrm>
            <a:prstGeom prst="rect">
              <a:avLst/>
            </a:prstGeom>
          </p:spPr>
          <p:txBody>
            <a:bodyPr anchor="ctr" rtlCol="false" tIns="50800" lIns="50800" bIns="50800" rIns="50800"/>
            <a:lstStyle/>
            <a:p>
              <a:pPr algn="ctr" marL="0" indent="0" lvl="0">
                <a:lnSpc>
                  <a:spcPts val="2741"/>
                </a:lnSpc>
              </a:pPr>
            </a:p>
          </p:txBody>
        </p:sp>
      </p:grpSp>
      <p:grpSp>
        <p:nvGrpSpPr>
          <p:cNvPr name="Group 8" id="8"/>
          <p:cNvGrpSpPr/>
          <p:nvPr/>
        </p:nvGrpSpPr>
        <p:grpSpPr>
          <a:xfrm rot="0">
            <a:off x="1028700" y="1906546"/>
            <a:ext cx="4918564" cy="4593896"/>
            <a:chOff x="0" y="0"/>
            <a:chExt cx="1295424" cy="1209915"/>
          </a:xfrm>
        </p:grpSpPr>
        <p:sp>
          <p:nvSpPr>
            <p:cNvPr name="Freeform 9" id="9"/>
            <p:cNvSpPr/>
            <p:nvPr/>
          </p:nvSpPr>
          <p:spPr>
            <a:xfrm flipH="false" flipV="false" rot="0">
              <a:off x="0" y="0"/>
              <a:ext cx="1295424" cy="1209915"/>
            </a:xfrm>
            <a:custGeom>
              <a:avLst/>
              <a:gdLst/>
              <a:ahLst/>
              <a:cxnLst/>
              <a:rect r="r" b="b" t="t" l="l"/>
              <a:pathLst>
                <a:path h="1209915" w="1295424">
                  <a:moveTo>
                    <a:pt x="78701" y="0"/>
                  </a:moveTo>
                  <a:lnTo>
                    <a:pt x="1216723" y="0"/>
                  </a:lnTo>
                  <a:cubicBezTo>
                    <a:pt x="1260188" y="0"/>
                    <a:pt x="1295424" y="35236"/>
                    <a:pt x="1295424" y="78701"/>
                  </a:cubicBezTo>
                  <a:lnTo>
                    <a:pt x="1295424" y="1131214"/>
                  </a:lnTo>
                  <a:cubicBezTo>
                    <a:pt x="1295424" y="1174679"/>
                    <a:pt x="1260188" y="1209915"/>
                    <a:pt x="1216723" y="1209915"/>
                  </a:cubicBezTo>
                  <a:lnTo>
                    <a:pt x="78701" y="1209915"/>
                  </a:lnTo>
                  <a:cubicBezTo>
                    <a:pt x="35236" y="1209915"/>
                    <a:pt x="0" y="1174679"/>
                    <a:pt x="0" y="1131214"/>
                  </a:cubicBezTo>
                  <a:lnTo>
                    <a:pt x="0" y="78701"/>
                  </a:lnTo>
                  <a:cubicBezTo>
                    <a:pt x="0" y="35236"/>
                    <a:pt x="35236" y="0"/>
                    <a:pt x="78701" y="0"/>
                  </a:cubicBezTo>
                  <a:close/>
                </a:path>
              </a:pathLst>
            </a:custGeom>
            <a:gradFill rotWithShape="true">
              <a:gsLst>
                <a:gs pos="0">
                  <a:srgbClr val="593B8A">
                    <a:alpha val="100000"/>
                  </a:srgbClr>
                </a:gs>
                <a:gs pos="100000">
                  <a:srgbClr val="A07DD8">
                    <a:alpha val="100000"/>
                  </a:srgbClr>
                </a:gs>
              </a:gsLst>
              <a:lin ang="5400000"/>
            </a:gradFill>
            <a:ln w="19050" cap="rnd">
              <a:solidFill>
                <a:srgbClr val="000000"/>
              </a:solidFill>
              <a:prstDash val="solid"/>
              <a:round/>
            </a:ln>
          </p:spPr>
        </p:sp>
        <p:sp>
          <p:nvSpPr>
            <p:cNvPr name="TextBox 10" id="10"/>
            <p:cNvSpPr txBox="true"/>
            <p:nvPr/>
          </p:nvSpPr>
          <p:spPr>
            <a:xfrm>
              <a:off x="0" y="-38100"/>
              <a:ext cx="1295424" cy="1248015"/>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6305670" y="1906546"/>
            <a:ext cx="4918564" cy="4593896"/>
            <a:chOff x="0" y="0"/>
            <a:chExt cx="1295424" cy="1209915"/>
          </a:xfrm>
        </p:grpSpPr>
        <p:sp>
          <p:nvSpPr>
            <p:cNvPr name="Freeform 12" id="12"/>
            <p:cNvSpPr/>
            <p:nvPr/>
          </p:nvSpPr>
          <p:spPr>
            <a:xfrm flipH="false" flipV="false" rot="0">
              <a:off x="0" y="0"/>
              <a:ext cx="1295424" cy="1209915"/>
            </a:xfrm>
            <a:custGeom>
              <a:avLst/>
              <a:gdLst/>
              <a:ahLst/>
              <a:cxnLst/>
              <a:rect r="r" b="b" t="t" l="l"/>
              <a:pathLst>
                <a:path h="1209915" w="1295424">
                  <a:moveTo>
                    <a:pt x="78701" y="0"/>
                  </a:moveTo>
                  <a:lnTo>
                    <a:pt x="1216723" y="0"/>
                  </a:lnTo>
                  <a:cubicBezTo>
                    <a:pt x="1260188" y="0"/>
                    <a:pt x="1295424" y="35236"/>
                    <a:pt x="1295424" y="78701"/>
                  </a:cubicBezTo>
                  <a:lnTo>
                    <a:pt x="1295424" y="1131214"/>
                  </a:lnTo>
                  <a:cubicBezTo>
                    <a:pt x="1295424" y="1174679"/>
                    <a:pt x="1260188" y="1209915"/>
                    <a:pt x="1216723" y="1209915"/>
                  </a:cubicBezTo>
                  <a:lnTo>
                    <a:pt x="78701" y="1209915"/>
                  </a:lnTo>
                  <a:cubicBezTo>
                    <a:pt x="35236" y="1209915"/>
                    <a:pt x="0" y="1174679"/>
                    <a:pt x="0" y="1131214"/>
                  </a:cubicBezTo>
                  <a:lnTo>
                    <a:pt x="0" y="78701"/>
                  </a:lnTo>
                  <a:cubicBezTo>
                    <a:pt x="0" y="35236"/>
                    <a:pt x="35236" y="0"/>
                    <a:pt x="78701" y="0"/>
                  </a:cubicBezTo>
                  <a:close/>
                </a:path>
              </a:pathLst>
            </a:custGeom>
            <a:gradFill rotWithShape="true">
              <a:gsLst>
                <a:gs pos="0">
                  <a:srgbClr val="593B8A">
                    <a:alpha val="100000"/>
                  </a:srgbClr>
                </a:gs>
                <a:gs pos="100000">
                  <a:srgbClr val="A07DD8">
                    <a:alpha val="100000"/>
                  </a:srgbClr>
                </a:gs>
              </a:gsLst>
              <a:lin ang="5400000"/>
            </a:gradFill>
            <a:ln w="19050" cap="rnd">
              <a:solidFill>
                <a:srgbClr val="000000"/>
              </a:solidFill>
              <a:prstDash val="solid"/>
              <a:round/>
            </a:ln>
          </p:spPr>
        </p:sp>
        <p:sp>
          <p:nvSpPr>
            <p:cNvPr name="TextBox 13" id="13"/>
            <p:cNvSpPr txBox="true"/>
            <p:nvPr/>
          </p:nvSpPr>
          <p:spPr>
            <a:xfrm>
              <a:off x="0" y="-38100"/>
              <a:ext cx="1295424" cy="1248015"/>
            </a:xfrm>
            <a:prstGeom prst="rect">
              <a:avLst/>
            </a:prstGeom>
          </p:spPr>
          <p:txBody>
            <a:bodyPr anchor="ctr" rtlCol="false" tIns="50800" lIns="50800" bIns="50800" rIns="50800"/>
            <a:lstStyle/>
            <a:p>
              <a:pPr algn="ctr" marL="0" indent="0" lvl="0">
                <a:lnSpc>
                  <a:spcPts val="2659"/>
                </a:lnSpc>
              </a:pPr>
            </a:p>
          </p:txBody>
        </p:sp>
      </p:grpSp>
      <p:grpSp>
        <p:nvGrpSpPr>
          <p:cNvPr name="Group 14" id="14"/>
          <p:cNvGrpSpPr/>
          <p:nvPr/>
        </p:nvGrpSpPr>
        <p:grpSpPr>
          <a:xfrm rot="0">
            <a:off x="11586184" y="1906546"/>
            <a:ext cx="5673116" cy="4593896"/>
            <a:chOff x="0" y="0"/>
            <a:chExt cx="1592866" cy="1289848"/>
          </a:xfrm>
        </p:grpSpPr>
        <p:sp>
          <p:nvSpPr>
            <p:cNvPr name="Freeform 15" id="15"/>
            <p:cNvSpPr/>
            <p:nvPr/>
          </p:nvSpPr>
          <p:spPr>
            <a:xfrm flipH="false" flipV="false" rot="0">
              <a:off x="0" y="0"/>
              <a:ext cx="1592866" cy="1289848"/>
            </a:xfrm>
            <a:custGeom>
              <a:avLst/>
              <a:gdLst/>
              <a:ahLst/>
              <a:cxnLst/>
              <a:rect r="r" b="b" t="t" l="l"/>
              <a:pathLst>
                <a:path h="1289848" w="1592866">
                  <a:moveTo>
                    <a:pt x="31387" y="0"/>
                  </a:moveTo>
                  <a:lnTo>
                    <a:pt x="1561479" y="0"/>
                  </a:lnTo>
                  <a:cubicBezTo>
                    <a:pt x="1569803" y="0"/>
                    <a:pt x="1577786" y="3307"/>
                    <a:pt x="1583673" y="9193"/>
                  </a:cubicBezTo>
                  <a:cubicBezTo>
                    <a:pt x="1589559" y="15079"/>
                    <a:pt x="1592866" y="23063"/>
                    <a:pt x="1592866" y="31387"/>
                  </a:cubicBezTo>
                  <a:lnTo>
                    <a:pt x="1592866" y="1258461"/>
                  </a:lnTo>
                  <a:cubicBezTo>
                    <a:pt x="1592866" y="1266786"/>
                    <a:pt x="1589559" y="1274769"/>
                    <a:pt x="1583673" y="1280655"/>
                  </a:cubicBezTo>
                  <a:cubicBezTo>
                    <a:pt x="1577786" y="1286542"/>
                    <a:pt x="1569803" y="1289848"/>
                    <a:pt x="1561479" y="1289848"/>
                  </a:cubicBezTo>
                  <a:lnTo>
                    <a:pt x="31387" y="1289848"/>
                  </a:lnTo>
                  <a:cubicBezTo>
                    <a:pt x="23063" y="1289848"/>
                    <a:pt x="15079" y="1286542"/>
                    <a:pt x="9193" y="1280655"/>
                  </a:cubicBezTo>
                  <a:cubicBezTo>
                    <a:pt x="3307" y="1274769"/>
                    <a:pt x="0" y="1266786"/>
                    <a:pt x="0" y="1258461"/>
                  </a:cubicBezTo>
                  <a:lnTo>
                    <a:pt x="0" y="31387"/>
                  </a:lnTo>
                  <a:cubicBezTo>
                    <a:pt x="0" y="23063"/>
                    <a:pt x="3307" y="15079"/>
                    <a:pt x="9193" y="9193"/>
                  </a:cubicBezTo>
                  <a:cubicBezTo>
                    <a:pt x="15079" y="3307"/>
                    <a:pt x="23063" y="0"/>
                    <a:pt x="31387" y="0"/>
                  </a:cubicBezTo>
                  <a:close/>
                </a:path>
              </a:pathLst>
            </a:custGeom>
            <a:blipFill>
              <a:blip r:embed="rId4"/>
              <a:stretch>
                <a:fillRect l="-296" t="0" r="-296" b="0"/>
              </a:stretch>
            </a:blipFill>
            <a:ln w="19050" cap="rnd">
              <a:solidFill>
                <a:srgbClr val="000000"/>
              </a:solidFill>
              <a:prstDash val="solid"/>
              <a:round/>
            </a:ln>
          </p:spPr>
        </p:sp>
      </p:grpSp>
      <p:sp>
        <p:nvSpPr>
          <p:cNvPr name="TextBox 16" id="16"/>
          <p:cNvSpPr txBox="true"/>
          <p:nvPr/>
        </p:nvSpPr>
        <p:spPr>
          <a:xfrm rot="0">
            <a:off x="1028700" y="7586381"/>
            <a:ext cx="9837127" cy="1690766"/>
          </a:xfrm>
          <a:prstGeom prst="rect">
            <a:avLst/>
          </a:prstGeom>
        </p:spPr>
        <p:txBody>
          <a:bodyPr anchor="t" rtlCol="false" tIns="0" lIns="0" bIns="0" rIns="0">
            <a:spAutoFit/>
          </a:bodyPr>
          <a:lstStyle/>
          <a:p>
            <a:pPr algn="l" marL="0" indent="0" lvl="0">
              <a:lnSpc>
                <a:spcPts val="11440"/>
              </a:lnSpc>
            </a:pPr>
            <a:r>
              <a:rPr lang="en-US" b="true" sz="11440" spc="-594">
                <a:solidFill>
                  <a:srgbClr val="222223"/>
                </a:solidFill>
                <a:latin typeface="Helvetica World Bold"/>
                <a:ea typeface="Helvetica World Bold"/>
                <a:cs typeface="Helvetica World Bold"/>
                <a:sym typeface="Helvetica World Bold"/>
              </a:rPr>
              <a:t>Live Demo</a:t>
            </a:r>
          </a:p>
        </p:txBody>
      </p:sp>
      <p:sp>
        <p:nvSpPr>
          <p:cNvPr name="TextBox 17" id="17"/>
          <p:cNvSpPr txBox="true"/>
          <p:nvPr/>
        </p:nvSpPr>
        <p:spPr>
          <a:xfrm rot="0">
            <a:off x="1483739" y="2441245"/>
            <a:ext cx="4037472" cy="507659"/>
          </a:xfrm>
          <a:prstGeom prst="rect">
            <a:avLst/>
          </a:prstGeom>
        </p:spPr>
        <p:txBody>
          <a:bodyPr anchor="t" rtlCol="false" tIns="0" lIns="0" bIns="0" rIns="0">
            <a:spAutoFit/>
          </a:bodyPr>
          <a:lstStyle/>
          <a:p>
            <a:pPr algn="l" marL="0" indent="0" lvl="0">
              <a:lnSpc>
                <a:spcPts val="3486"/>
              </a:lnSpc>
            </a:pPr>
            <a:r>
              <a:rPr lang="en-US" b="true" sz="3486" spc="-181">
                <a:solidFill>
                  <a:srgbClr val="FFFFFF"/>
                </a:solidFill>
                <a:latin typeface="Helvetica World Bold"/>
                <a:ea typeface="Helvetica World Bold"/>
                <a:cs typeface="Helvetica World Bold"/>
                <a:sym typeface="Helvetica World Bold"/>
              </a:rPr>
              <a:t>Setup &amp; Input</a:t>
            </a:r>
          </a:p>
        </p:txBody>
      </p:sp>
      <p:sp>
        <p:nvSpPr>
          <p:cNvPr name="TextBox 18" id="18"/>
          <p:cNvSpPr txBox="true"/>
          <p:nvPr/>
        </p:nvSpPr>
        <p:spPr>
          <a:xfrm rot="0">
            <a:off x="6760710" y="2441245"/>
            <a:ext cx="4037472" cy="507659"/>
          </a:xfrm>
          <a:prstGeom prst="rect">
            <a:avLst/>
          </a:prstGeom>
        </p:spPr>
        <p:txBody>
          <a:bodyPr anchor="t" rtlCol="false" tIns="0" lIns="0" bIns="0" rIns="0">
            <a:spAutoFit/>
          </a:bodyPr>
          <a:lstStyle/>
          <a:p>
            <a:pPr algn="l" marL="0" indent="0" lvl="0">
              <a:lnSpc>
                <a:spcPts val="3486"/>
              </a:lnSpc>
            </a:pPr>
            <a:r>
              <a:rPr lang="en-US" b="true" sz="3486" spc="-181">
                <a:solidFill>
                  <a:srgbClr val="FFFFFF"/>
                </a:solidFill>
                <a:latin typeface="Helvetica World Bold"/>
                <a:ea typeface="Helvetica World Bold"/>
                <a:cs typeface="Helvetica World Bold"/>
                <a:sym typeface="Helvetica World Bold"/>
              </a:rPr>
              <a:t>Run &amp; Report</a:t>
            </a:r>
          </a:p>
        </p:txBody>
      </p:sp>
      <p:sp>
        <p:nvSpPr>
          <p:cNvPr name="TextBox 19" id="19"/>
          <p:cNvSpPr txBox="true"/>
          <p:nvPr/>
        </p:nvSpPr>
        <p:spPr>
          <a:xfrm rot="0">
            <a:off x="1045163" y="650408"/>
            <a:ext cx="2457313" cy="531494"/>
          </a:xfrm>
          <a:prstGeom prst="rect">
            <a:avLst/>
          </a:prstGeom>
        </p:spPr>
        <p:txBody>
          <a:bodyPr anchor="t" rtlCol="false" tIns="0" lIns="0" bIns="0" rIns="0">
            <a:spAutoFit/>
          </a:bodyPr>
          <a:lstStyle/>
          <a:p>
            <a:pPr algn="l" marL="0" indent="0" lvl="0">
              <a:lnSpc>
                <a:spcPts val="4305"/>
              </a:lnSpc>
            </a:pPr>
            <a:r>
              <a:rPr lang="en-US" b="true" sz="3075" spc="-144">
                <a:solidFill>
                  <a:srgbClr val="424242"/>
                </a:solidFill>
                <a:latin typeface="Open Sauce Bold"/>
                <a:ea typeface="Open Sauce Bold"/>
                <a:cs typeface="Open Sauce Bold"/>
                <a:sym typeface="Open Sauce Bold"/>
              </a:rPr>
              <a:t>RetireWise AI</a:t>
            </a:r>
          </a:p>
        </p:txBody>
      </p:sp>
      <p:sp>
        <p:nvSpPr>
          <p:cNvPr name="TextBox 20" id="20"/>
          <p:cNvSpPr txBox="true"/>
          <p:nvPr/>
        </p:nvSpPr>
        <p:spPr>
          <a:xfrm rot="0">
            <a:off x="15292495" y="810781"/>
            <a:ext cx="1966805" cy="248738"/>
          </a:xfrm>
          <a:prstGeom prst="rect">
            <a:avLst/>
          </a:prstGeom>
        </p:spPr>
        <p:txBody>
          <a:bodyPr anchor="t" rtlCol="false" tIns="0" lIns="0" bIns="0" rIns="0">
            <a:spAutoFit/>
          </a:bodyPr>
          <a:lstStyle/>
          <a:p>
            <a:pPr algn="ctr" marL="0" indent="0" lvl="0">
              <a:lnSpc>
                <a:spcPts val="2040"/>
              </a:lnSpc>
              <a:spcBef>
                <a:spcPct val="0"/>
              </a:spcBef>
            </a:pPr>
            <a:r>
              <a:rPr lang="en-US" sz="1457" spc="-75">
                <a:solidFill>
                  <a:srgbClr val="FFFFFF"/>
                </a:solidFill>
                <a:latin typeface="Inter"/>
                <a:ea typeface="Inter"/>
                <a:cs typeface="Inter"/>
                <a:sym typeface="Inter"/>
              </a:rPr>
              <a:t>Page 7</a:t>
            </a:r>
          </a:p>
        </p:txBody>
      </p:sp>
      <p:sp>
        <p:nvSpPr>
          <p:cNvPr name="TextBox 21" id="21"/>
          <p:cNvSpPr txBox="true"/>
          <p:nvPr/>
        </p:nvSpPr>
        <p:spPr>
          <a:xfrm rot="0">
            <a:off x="9486573" y="7508875"/>
            <a:ext cx="7772727" cy="1044611"/>
          </a:xfrm>
          <a:prstGeom prst="rect">
            <a:avLst/>
          </a:prstGeom>
        </p:spPr>
        <p:txBody>
          <a:bodyPr anchor="t" rtlCol="false" tIns="0" lIns="0" bIns="0" rIns="0">
            <a:spAutoFit/>
          </a:bodyPr>
          <a:lstStyle/>
          <a:p>
            <a:pPr algn="l" marL="0" indent="0" lvl="0">
              <a:lnSpc>
                <a:spcPts val="2798"/>
              </a:lnSpc>
            </a:pPr>
            <a:r>
              <a:rPr lang="en-US" sz="1998" spc="-79">
                <a:solidFill>
                  <a:srgbClr val="393939"/>
                </a:solidFill>
                <a:latin typeface="DM Sans"/>
                <a:ea typeface="DM Sans"/>
                <a:cs typeface="DM Sans"/>
                <a:sym typeface="DM Sans"/>
              </a:rPr>
              <a:t>Watch RetireWise AI transform a retiree's financial data into clear, actionable insights — from a blank profile to a full AI-generated PDF report with scenario analysis in minutes.</a:t>
            </a:r>
          </a:p>
        </p:txBody>
      </p:sp>
      <p:sp>
        <p:nvSpPr>
          <p:cNvPr name="TextBox 22" id="22"/>
          <p:cNvSpPr txBox="true"/>
          <p:nvPr/>
        </p:nvSpPr>
        <p:spPr>
          <a:xfrm rot="0">
            <a:off x="1483739" y="3211113"/>
            <a:ext cx="4037472" cy="1249712"/>
          </a:xfrm>
          <a:prstGeom prst="rect">
            <a:avLst/>
          </a:prstGeom>
        </p:spPr>
        <p:txBody>
          <a:bodyPr anchor="t" rtlCol="false" tIns="0" lIns="0" bIns="0" rIns="0">
            <a:spAutoFit/>
          </a:bodyPr>
          <a:lstStyle/>
          <a:p>
            <a:pPr algn="l" marL="388348" indent="-194174" lvl="1">
              <a:lnSpc>
                <a:spcPts val="2518"/>
              </a:lnSpc>
              <a:buAutoNum type="arabicPeriod" startAt="1"/>
            </a:pPr>
            <a:r>
              <a:rPr lang="en-US" sz="1798" spc="-71">
                <a:solidFill>
                  <a:srgbClr val="FFFFFF"/>
                </a:solidFill>
                <a:latin typeface="DM Sans"/>
                <a:ea typeface="DM Sans"/>
                <a:cs typeface="DM Sans"/>
                <a:sym typeface="DM Sans"/>
              </a:rPr>
              <a:t>Create a sample retiree profile</a:t>
            </a:r>
          </a:p>
          <a:p>
            <a:pPr algn="l" marL="388348" indent="-194174" lvl="1">
              <a:lnSpc>
                <a:spcPts val="2518"/>
              </a:lnSpc>
              <a:buAutoNum type="arabicPeriod" startAt="1"/>
            </a:pPr>
            <a:r>
              <a:rPr lang="en-US" sz="1798" spc="-71">
                <a:solidFill>
                  <a:srgbClr val="FFFFFF"/>
                </a:solidFill>
                <a:latin typeface="DM Sans"/>
                <a:ea typeface="DM Sans"/>
                <a:cs typeface="DM Sans"/>
                <a:sym typeface="DM Sans"/>
              </a:rPr>
              <a:t>Enter age, assets, income &amp; expenses</a:t>
            </a:r>
          </a:p>
          <a:p>
            <a:pPr algn="l" marL="388348" indent="-194174" lvl="1">
              <a:lnSpc>
                <a:spcPts val="2518"/>
              </a:lnSpc>
              <a:buAutoNum type="arabicPeriod" startAt="1"/>
            </a:pPr>
            <a:r>
              <a:rPr lang="en-US" sz="1798" spc="-71">
                <a:solidFill>
                  <a:srgbClr val="FFFFFF"/>
                </a:solidFill>
                <a:latin typeface="DM Sans"/>
                <a:ea typeface="DM Sans"/>
                <a:cs typeface="DM Sans"/>
                <a:sym typeface="DM Sans"/>
              </a:rPr>
              <a:t>Input liabilities and financial goals</a:t>
            </a:r>
          </a:p>
          <a:p>
            <a:pPr algn="l" marL="388348" indent="-194174" lvl="1">
              <a:lnSpc>
                <a:spcPts val="2518"/>
              </a:lnSpc>
              <a:buAutoNum type="arabicPeriod" startAt="1"/>
            </a:pPr>
            <a:r>
              <a:rPr lang="en-US" sz="1798" spc="-71">
                <a:solidFill>
                  <a:srgbClr val="FFFFFF"/>
                </a:solidFill>
                <a:latin typeface="DM Sans"/>
                <a:ea typeface="DM Sans"/>
                <a:cs typeface="DM Sans"/>
                <a:sym typeface="DM Sans"/>
              </a:rPr>
              <a:t>Run the full financial assessment</a:t>
            </a:r>
          </a:p>
        </p:txBody>
      </p:sp>
      <p:sp>
        <p:nvSpPr>
          <p:cNvPr name="TextBox 23" id="23"/>
          <p:cNvSpPr txBox="true"/>
          <p:nvPr/>
        </p:nvSpPr>
        <p:spPr>
          <a:xfrm rot="0">
            <a:off x="6760710" y="3211113"/>
            <a:ext cx="4037472" cy="2192687"/>
          </a:xfrm>
          <a:prstGeom prst="rect">
            <a:avLst/>
          </a:prstGeom>
        </p:spPr>
        <p:txBody>
          <a:bodyPr anchor="t" rtlCol="false" tIns="0" lIns="0" bIns="0" rIns="0">
            <a:spAutoFit/>
          </a:bodyPr>
          <a:lstStyle/>
          <a:p>
            <a:pPr algn="l" marL="388348" indent="-194174" lvl="1">
              <a:lnSpc>
                <a:spcPts val="2518"/>
              </a:lnSpc>
              <a:buAutoNum type="arabicPeriod" startAt="1"/>
            </a:pPr>
            <a:r>
              <a:rPr lang="en-US" sz="1798" spc="-71">
                <a:solidFill>
                  <a:srgbClr val="FFFFFF"/>
                </a:solidFill>
                <a:latin typeface="DM Sans"/>
                <a:ea typeface="DM Sans"/>
                <a:cs typeface="DM Sans"/>
                <a:sym typeface="DM Sans"/>
              </a:rPr>
              <a:t>View risk tolerance &amp; capacity for loss</a:t>
            </a:r>
          </a:p>
          <a:p>
            <a:pPr algn="l" marL="388348" indent="-194174" lvl="1">
              <a:lnSpc>
                <a:spcPts val="2518"/>
              </a:lnSpc>
              <a:buAutoNum type="arabicPeriod" startAt="1"/>
            </a:pPr>
            <a:r>
              <a:rPr lang="en-US" sz="1798" spc="-71">
                <a:solidFill>
                  <a:srgbClr val="FFFFFF"/>
                </a:solidFill>
                <a:latin typeface="DM Sans"/>
                <a:ea typeface="DM Sans"/>
                <a:cs typeface="DM Sans"/>
                <a:sym typeface="DM Sans"/>
              </a:rPr>
              <a:t>Test inflation, market &amp; emergency scenarios</a:t>
            </a:r>
          </a:p>
          <a:p>
            <a:pPr algn="l" marL="388348" indent="-194174" lvl="1">
              <a:lnSpc>
                <a:spcPts val="2518"/>
              </a:lnSpc>
              <a:buAutoNum type="arabicPeriod" startAt="1"/>
            </a:pPr>
            <a:r>
              <a:rPr lang="en-US" sz="1798" spc="-71">
                <a:solidFill>
                  <a:srgbClr val="FFFFFF"/>
                </a:solidFill>
                <a:latin typeface="DM Sans"/>
                <a:ea typeface="DM Sans"/>
                <a:cs typeface="DM Sans"/>
                <a:sym typeface="DM Sans"/>
              </a:rPr>
              <a:t>Generate AI plain-language explanation</a:t>
            </a:r>
          </a:p>
          <a:p>
            <a:pPr algn="l" marL="388348" indent="-194174" lvl="1">
              <a:lnSpc>
                <a:spcPts val="2518"/>
              </a:lnSpc>
              <a:buAutoNum type="arabicPeriod" startAt="1"/>
            </a:pPr>
            <a:r>
              <a:rPr lang="en-US" sz="1798" spc="-71">
                <a:solidFill>
                  <a:srgbClr val="FFFFFF"/>
                </a:solidFill>
                <a:latin typeface="DM Sans"/>
                <a:ea typeface="DM Sans"/>
                <a:cs typeface="DM Sans"/>
                <a:sym typeface="DM Sans"/>
              </a:rPr>
              <a:t>Export full PDF report &amp; dashboard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EF9"/>
        </a:solidFill>
      </p:bgPr>
    </p:bg>
    <p:spTree>
      <p:nvGrpSpPr>
        <p:cNvPr id="1" name=""/>
        <p:cNvGrpSpPr/>
        <p:nvPr/>
      </p:nvGrpSpPr>
      <p:grpSpPr>
        <a:xfrm>
          <a:off x="0" y="0"/>
          <a:ext cx="0" cy="0"/>
          <a:chOff x="0" y="0"/>
          <a:chExt cx="0" cy="0"/>
        </a:xfrm>
      </p:grpSpPr>
      <p:sp>
        <p:nvSpPr>
          <p:cNvPr name="AutoShape 2" id="2"/>
          <p:cNvSpPr/>
          <p:nvPr/>
        </p:nvSpPr>
        <p:spPr>
          <a:xfrm>
            <a:off x="1045163" y="1411559"/>
            <a:ext cx="16214137" cy="0"/>
          </a:xfrm>
          <a:prstGeom prst="line">
            <a:avLst/>
          </a:prstGeom>
          <a:ln cap="flat" w="19050">
            <a:solidFill>
              <a:srgbClr val="424242"/>
            </a:solidFill>
            <a:prstDash val="solid"/>
            <a:headEnd type="none" len="sm" w="sm"/>
            <a:tailEnd type="none" len="sm" w="sm"/>
          </a:ln>
        </p:spPr>
      </p:sp>
      <p:sp>
        <p:nvSpPr>
          <p:cNvPr name="Freeform 3" id="3"/>
          <p:cNvSpPr/>
          <p:nvPr/>
        </p:nvSpPr>
        <p:spPr>
          <a:xfrm flipH="false" flipV="false" rot="-699989">
            <a:off x="3144087" y="1935330"/>
            <a:ext cx="12899683" cy="8326159"/>
          </a:xfrm>
          <a:custGeom>
            <a:avLst/>
            <a:gdLst/>
            <a:ahLst/>
            <a:cxnLst/>
            <a:rect r="r" b="b" t="t" l="l"/>
            <a:pathLst>
              <a:path h="8326159" w="12899683">
                <a:moveTo>
                  <a:pt x="0" y="0"/>
                </a:moveTo>
                <a:lnTo>
                  <a:pt x="12899684" y="0"/>
                </a:lnTo>
                <a:lnTo>
                  <a:pt x="12899684" y="8326159"/>
                </a:lnTo>
                <a:lnTo>
                  <a:pt x="0" y="8326159"/>
                </a:lnTo>
                <a:lnTo>
                  <a:pt x="0" y="0"/>
                </a:lnTo>
                <a:close/>
              </a:path>
            </a:pathLst>
          </a:custGeom>
          <a:blipFill>
            <a:blip r:embed="rId2">
              <a:alphaModFix amt="31999"/>
            </a:blip>
            <a:stretch>
              <a:fillRect l="0" t="0" r="0" b="0"/>
            </a:stretch>
          </a:blipFill>
        </p:spPr>
      </p:sp>
      <p:sp>
        <p:nvSpPr>
          <p:cNvPr name="Freeform 4" id="4"/>
          <p:cNvSpPr/>
          <p:nvPr/>
        </p:nvSpPr>
        <p:spPr>
          <a:xfrm flipH="true" flipV="false" rot="4113877">
            <a:off x="-1571649" y="-2208254"/>
            <a:ext cx="7690935" cy="8229600"/>
          </a:xfrm>
          <a:custGeom>
            <a:avLst/>
            <a:gdLst/>
            <a:ahLst/>
            <a:cxnLst/>
            <a:rect r="r" b="b" t="t" l="l"/>
            <a:pathLst>
              <a:path h="8229600" w="7690935">
                <a:moveTo>
                  <a:pt x="7690936" y="0"/>
                </a:moveTo>
                <a:lnTo>
                  <a:pt x="0" y="0"/>
                </a:lnTo>
                <a:lnTo>
                  <a:pt x="0" y="8229600"/>
                </a:lnTo>
                <a:lnTo>
                  <a:pt x="7690936" y="8229600"/>
                </a:lnTo>
                <a:lnTo>
                  <a:pt x="7690936" y="0"/>
                </a:lnTo>
                <a:close/>
              </a:path>
            </a:pathLst>
          </a:custGeom>
          <a:blipFill>
            <a:blip r:embed="rId3">
              <a:alphaModFix amt="24000"/>
            </a:blip>
            <a:stretch>
              <a:fillRect l="0" t="0" r="0" b="0"/>
            </a:stretch>
          </a:blipFill>
        </p:spPr>
      </p:sp>
      <p:grpSp>
        <p:nvGrpSpPr>
          <p:cNvPr name="Group 5" id="5"/>
          <p:cNvGrpSpPr/>
          <p:nvPr/>
        </p:nvGrpSpPr>
        <p:grpSpPr>
          <a:xfrm rot="0">
            <a:off x="15292495" y="717002"/>
            <a:ext cx="1966805" cy="464845"/>
            <a:chOff x="0" y="0"/>
            <a:chExt cx="518006" cy="122428"/>
          </a:xfrm>
        </p:grpSpPr>
        <p:sp>
          <p:nvSpPr>
            <p:cNvPr name="Freeform 6" id="6"/>
            <p:cNvSpPr/>
            <p:nvPr/>
          </p:nvSpPr>
          <p:spPr>
            <a:xfrm flipH="false" flipV="false" rot="0">
              <a:off x="0" y="0"/>
              <a:ext cx="518006" cy="122428"/>
            </a:xfrm>
            <a:custGeom>
              <a:avLst/>
              <a:gdLst/>
              <a:ahLst/>
              <a:cxnLst/>
              <a:rect r="r" b="b" t="t" l="l"/>
              <a:pathLst>
                <a:path h="122428" w="518006">
                  <a:moveTo>
                    <a:pt x="61214" y="0"/>
                  </a:moveTo>
                  <a:lnTo>
                    <a:pt x="456792" y="0"/>
                  </a:lnTo>
                  <a:cubicBezTo>
                    <a:pt x="490600" y="0"/>
                    <a:pt x="518006" y="27406"/>
                    <a:pt x="518006" y="61214"/>
                  </a:cubicBezTo>
                  <a:lnTo>
                    <a:pt x="518006" y="61214"/>
                  </a:lnTo>
                  <a:cubicBezTo>
                    <a:pt x="518006" y="95022"/>
                    <a:pt x="490600" y="122428"/>
                    <a:pt x="456792" y="122428"/>
                  </a:cubicBezTo>
                  <a:lnTo>
                    <a:pt x="61214" y="122428"/>
                  </a:lnTo>
                  <a:cubicBezTo>
                    <a:pt x="27406" y="122428"/>
                    <a:pt x="0" y="95022"/>
                    <a:pt x="0" y="61214"/>
                  </a:cubicBezTo>
                  <a:lnTo>
                    <a:pt x="0" y="61214"/>
                  </a:lnTo>
                  <a:cubicBezTo>
                    <a:pt x="0" y="27406"/>
                    <a:pt x="27406" y="0"/>
                    <a:pt x="61214" y="0"/>
                  </a:cubicBezTo>
                  <a:close/>
                </a:path>
              </a:pathLst>
            </a:custGeom>
            <a:solidFill>
              <a:srgbClr val="593B8A"/>
            </a:solidFill>
            <a:ln w="19050" cap="rnd">
              <a:solidFill>
                <a:srgbClr val="29241F"/>
              </a:solidFill>
              <a:prstDash val="solid"/>
              <a:round/>
            </a:ln>
          </p:spPr>
        </p:sp>
        <p:sp>
          <p:nvSpPr>
            <p:cNvPr name="TextBox 7" id="7"/>
            <p:cNvSpPr txBox="true"/>
            <p:nvPr/>
          </p:nvSpPr>
          <p:spPr>
            <a:xfrm>
              <a:off x="0" y="-38100"/>
              <a:ext cx="518006" cy="160528"/>
            </a:xfrm>
            <a:prstGeom prst="rect">
              <a:avLst/>
            </a:prstGeom>
          </p:spPr>
          <p:txBody>
            <a:bodyPr anchor="ctr" rtlCol="false" tIns="50800" lIns="50800" bIns="50800" rIns="50800"/>
            <a:lstStyle/>
            <a:p>
              <a:pPr algn="ctr" marL="0" indent="0" lvl="0">
                <a:lnSpc>
                  <a:spcPts val="2741"/>
                </a:lnSpc>
              </a:pPr>
            </a:p>
          </p:txBody>
        </p:sp>
      </p:grpSp>
      <p:sp>
        <p:nvSpPr>
          <p:cNvPr name="TextBox 8" id="8"/>
          <p:cNvSpPr txBox="true"/>
          <p:nvPr/>
        </p:nvSpPr>
        <p:spPr>
          <a:xfrm rot="0">
            <a:off x="1028700" y="2072894"/>
            <a:ext cx="9837127" cy="1690766"/>
          </a:xfrm>
          <a:prstGeom prst="rect">
            <a:avLst/>
          </a:prstGeom>
        </p:spPr>
        <p:txBody>
          <a:bodyPr anchor="t" rtlCol="false" tIns="0" lIns="0" bIns="0" rIns="0">
            <a:spAutoFit/>
          </a:bodyPr>
          <a:lstStyle/>
          <a:p>
            <a:pPr algn="l" marL="0" indent="0" lvl="0">
              <a:lnSpc>
                <a:spcPts val="11440"/>
              </a:lnSpc>
            </a:pPr>
            <a:r>
              <a:rPr lang="en-US" b="true" sz="11440" spc="-594">
                <a:solidFill>
                  <a:srgbClr val="222223"/>
                </a:solidFill>
                <a:latin typeface="Helvetica World Bold"/>
                <a:ea typeface="Helvetica World Bold"/>
                <a:cs typeface="Helvetica World Bold"/>
                <a:sym typeface="Helvetica World Bold"/>
              </a:rPr>
              <a:t>Our Team</a:t>
            </a:r>
          </a:p>
        </p:txBody>
      </p:sp>
      <p:sp>
        <p:nvSpPr>
          <p:cNvPr name="TextBox 9" id="9"/>
          <p:cNvSpPr txBox="true"/>
          <p:nvPr/>
        </p:nvSpPr>
        <p:spPr>
          <a:xfrm rot="0">
            <a:off x="1045163" y="650408"/>
            <a:ext cx="2457313" cy="531494"/>
          </a:xfrm>
          <a:prstGeom prst="rect">
            <a:avLst/>
          </a:prstGeom>
        </p:spPr>
        <p:txBody>
          <a:bodyPr anchor="t" rtlCol="false" tIns="0" lIns="0" bIns="0" rIns="0">
            <a:spAutoFit/>
          </a:bodyPr>
          <a:lstStyle/>
          <a:p>
            <a:pPr algn="l" marL="0" indent="0" lvl="0">
              <a:lnSpc>
                <a:spcPts val="4305"/>
              </a:lnSpc>
            </a:pPr>
            <a:r>
              <a:rPr lang="en-US" b="true" sz="3075" spc="-144">
                <a:solidFill>
                  <a:srgbClr val="424242"/>
                </a:solidFill>
                <a:latin typeface="Open Sauce Bold"/>
                <a:ea typeface="Open Sauce Bold"/>
                <a:cs typeface="Open Sauce Bold"/>
                <a:sym typeface="Open Sauce Bold"/>
              </a:rPr>
              <a:t>RetireWise AI</a:t>
            </a:r>
          </a:p>
        </p:txBody>
      </p:sp>
      <p:sp>
        <p:nvSpPr>
          <p:cNvPr name="TextBox 10" id="10"/>
          <p:cNvSpPr txBox="true"/>
          <p:nvPr/>
        </p:nvSpPr>
        <p:spPr>
          <a:xfrm rot="0">
            <a:off x="15292495" y="810781"/>
            <a:ext cx="1966805" cy="248738"/>
          </a:xfrm>
          <a:prstGeom prst="rect">
            <a:avLst/>
          </a:prstGeom>
        </p:spPr>
        <p:txBody>
          <a:bodyPr anchor="t" rtlCol="false" tIns="0" lIns="0" bIns="0" rIns="0">
            <a:spAutoFit/>
          </a:bodyPr>
          <a:lstStyle/>
          <a:p>
            <a:pPr algn="ctr" marL="0" indent="0" lvl="0">
              <a:lnSpc>
                <a:spcPts val="2040"/>
              </a:lnSpc>
              <a:spcBef>
                <a:spcPct val="0"/>
              </a:spcBef>
            </a:pPr>
            <a:r>
              <a:rPr lang="en-US" sz="1457" spc="-75">
                <a:solidFill>
                  <a:srgbClr val="FFFFFF"/>
                </a:solidFill>
                <a:latin typeface="Inter"/>
                <a:ea typeface="Inter"/>
                <a:cs typeface="Inter"/>
                <a:sym typeface="Inter"/>
              </a:rPr>
              <a:t>June 11, 2025</a:t>
            </a:r>
          </a:p>
        </p:txBody>
      </p:sp>
      <p:sp>
        <p:nvSpPr>
          <p:cNvPr name="TextBox 11" id="11"/>
          <p:cNvSpPr txBox="true"/>
          <p:nvPr/>
        </p:nvSpPr>
        <p:spPr>
          <a:xfrm rot="0">
            <a:off x="878137" y="7639466"/>
            <a:ext cx="3423805" cy="716041"/>
          </a:xfrm>
          <a:prstGeom prst="rect">
            <a:avLst/>
          </a:prstGeom>
        </p:spPr>
        <p:txBody>
          <a:bodyPr anchor="t" rtlCol="false" tIns="0" lIns="0" bIns="0" rIns="0">
            <a:spAutoFit/>
          </a:bodyPr>
          <a:lstStyle/>
          <a:p>
            <a:pPr algn="ctr" marL="0" indent="0" lvl="0">
              <a:lnSpc>
                <a:spcPts val="2739"/>
              </a:lnSpc>
              <a:spcBef>
                <a:spcPct val="0"/>
              </a:spcBef>
            </a:pPr>
            <a:r>
              <a:rPr lang="en-US" sz="3043" strike="noStrike" u="none">
                <a:solidFill>
                  <a:srgbClr val="000000"/>
                </a:solidFill>
                <a:latin typeface="Helvetica World"/>
                <a:ea typeface="Helvetica World"/>
                <a:cs typeface="Helvetica World"/>
                <a:sym typeface="Helvetica World"/>
              </a:rPr>
              <a:t>Syed Hussain Ali Zaidi</a:t>
            </a:r>
          </a:p>
        </p:txBody>
      </p:sp>
      <p:sp>
        <p:nvSpPr>
          <p:cNvPr name="TextBox 12" id="12"/>
          <p:cNvSpPr txBox="true"/>
          <p:nvPr/>
        </p:nvSpPr>
        <p:spPr>
          <a:xfrm rot="0">
            <a:off x="5262209" y="7639466"/>
            <a:ext cx="3423805" cy="373141"/>
          </a:xfrm>
          <a:prstGeom prst="rect">
            <a:avLst/>
          </a:prstGeom>
        </p:spPr>
        <p:txBody>
          <a:bodyPr anchor="t" rtlCol="false" tIns="0" lIns="0" bIns="0" rIns="0">
            <a:spAutoFit/>
          </a:bodyPr>
          <a:lstStyle/>
          <a:p>
            <a:pPr algn="ctr" marL="0" indent="0" lvl="0">
              <a:lnSpc>
                <a:spcPts val="2739"/>
              </a:lnSpc>
              <a:spcBef>
                <a:spcPct val="0"/>
              </a:spcBef>
            </a:pPr>
            <a:r>
              <a:rPr lang="en-US" sz="3043" strike="noStrike" u="none">
                <a:solidFill>
                  <a:srgbClr val="000000"/>
                </a:solidFill>
                <a:latin typeface="Helvetica World"/>
                <a:ea typeface="Helvetica World"/>
                <a:cs typeface="Helvetica World"/>
                <a:sym typeface="Helvetica World"/>
              </a:rPr>
              <a:t>Nawab Waqar Boto</a:t>
            </a:r>
          </a:p>
        </p:txBody>
      </p:sp>
      <p:sp>
        <p:nvSpPr>
          <p:cNvPr name="TextBox 13" id="13"/>
          <p:cNvSpPr txBox="true"/>
          <p:nvPr/>
        </p:nvSpPr>
        <p:spPr>
          <a:xfrm rot="0">
            <a:off x="904313" y="8473559"/>
            <a:ext cx="3397629" cy="338984"/>
          </a:xfrm>
          <a:prstGeom prst="rect">
            <a:avLst/>
          </a:prstGeom>
        </p:spPr>
        <p:txBody>
          <a:bodyPr anchor="t" rtlCol="false" tIns="0" lIns="0" bIns="0" rIns="0">
            <a:spAutoFit/>
          </a:bodyPr>
          <a:lstStyle/>
          <a:p>
            <a:pPr algn="ctr" marL="0" indent="0" lvl="0">
              <a:lnSpc>
                <a:spcPts val="2840"/>
              </a:lnSpc>
              <a:spcBef>
                <a:spcPct val="0"/>
              </a:spcBef>
            </a:pPr>
            <a:r>
              <a:rPr lang="en-US" b="true" sz="2029" spc="-81" strike="noStrike" u="none">
                <a:solidFill>
                  <a:srgbClr val="000000"/>
                </a:solidFill>
                <a:latin typeface="DM Sans Bold"/>
                <a:ea typeface="DM Sans Bold"/>
                <a:cs typeface="DM Sans Bold"/>
                <a:sym typeface="DM Sans Bold"/>
              </a:rPr>
              <a:t>LEA</a:t>
            </a:r>
            <a:r>
              <a:rPr lang="en-US" b="true" sz="2029" spc="-81" strike="noStrike" u="none">
                <a:solidFill>
                  <a:srgbClr val="000000"/>
                </a:solidFill>
                <a:latin typeface="DM Sans Bold"/>
                <a:ea typeface="DM Sans Bold"/>
                <a:cs typeface="DM Sans Bold"/>
                <a:sym typeface="DM Sans Bold"/>
              </a:rPr>
              <a:t>DER</a:t>
            </a:r>
          </a:p>
        </p:txBody>
      </p:sp>
      <p:sp>
        <p:nvSpPr>
          <p:cNvPr name="TextBox 14" id="14"/>
          <p:cNvSpPr txBox="true"/>
          <p:nvPr/>
        </p:nvSpPr>
        <p:spPr>
          <a:xfrm rot="0">
            <a:off x="5262209" y="8473559"/>
            <a:ext cx="3397629" cy="338984"/>
          </a:xfrm>
          <a:prstGeom prst="rect">
            <a:avLst/>
          </a:prstGeom>
        </p:spPr>
        <p:txBody>
          <a:bodyPr anchor="t" rtlCol="false" tIns="0" lIns="0" bIns="0" rIns="0">
            <a:spAutoFit/>
          </a:bodyPr>
          <a:lstStyle/>
          <a:p>
            <a:pPr algn="ctr" marL="0" indent="0" lvl="0">
              <a:lnSpc>
                <a:spcPts val="2840"/>
              </a:lnSpc>
              <a:spcBef>
                <a:spcPct val="0"/>
              </a:spcBef>
            </a:pPr>
            <a:r>
              <a:rPr lang="en-US" sz="2029" spc="-81" strike="noStrike" u="none">
                <a:solidFill>
                  <a:srgbClr val="000000"/>
                </a:solidFill>
                <a:latin typeface="DM Sans"/>
                <a:ea typeface="DM Sans"/>
                <a:cs typeface="DM Sans"/>
                <a:sym typeface="DM Sans"/>
              </a:rPr>
              <a:t>MEMBER 1</a:t>
            </a:r>
          </a:p>
        </p:txBody>
      </p:sp>
      <p:sp>
        <p:nvSpPr>
          <p:cNvPr name="TextBox 15" id="15"/>
          <p:cNvSpPr txBox="true"/>
          <p:nvPr/>
        </p:nvSpPr>
        <p:spPr>
          <a:xfrm rot="0">
            <a:off x="9593929" y="7639466"/>
            <a:ext cx="3423805" cy="373141"/>
          </a:xfrm>
          <a:prstGeom prst="rect">
            <a:avLst/>
          </a:prstGeom>
        </p:spPr>
        <p:txBody>
          <a:bodyPr anchor="t" rtlCol="false" tIns="0" lIns="0" bIns="0" rIns="0">
            <a:spAutoFit/>
          </a:bodyPr>
          <a:lstStyle/>
          <a:p>
            <a:pPr algn="ctr" marL="0" indent="0" lvl="0">
              <a:lnSpc>
                <a:spcPts val="2739"/>
              </a:lnSpc>
              <a:spcBef>
                <a:spcPct val="0"/>
              </a:spcBef>
            </a:pPr>
            <a:r>
              <a:rPr lang="en-US" sz="3043" strike="noStrike" u="none">
                <a:solidFill>
                  <a:srgbClr val="000000"/>
                </a:solidFill>
                <a:latin typeface="Helvetica World"/>
                <a:ea typeface="Helvetica World"/>
                <a:cs typeface="Helvetica World"/>
                <a:sym typeface="Helvetica World"/>
              </a:rPr>
              <a:t>Usman Aslam</a:t>
            </a:r>
          </a:p>
        </p:txBody>
      </p:sp>
      <p:sp>
        <p:nvSpPr>
          <p:cNvPr name="TextBox 16" id="16"/>
          <p:cNvSpPr txBox="true"/>
          <p:nvPr/>
        </p:nvSpPr>
        <p:spPr>
          <a:xfrm rot="0">
            <a:off x="9620105" y="8473559"/>
            <a:ext cx="3397629" cy="338984"/>
          </a:xfrm>
          <a:prstGeom prst="rect">
            <a:avLst/>
          </a:prstGeom>
        </p:spPr>
        <p:txBody>
          <a:bodyPr anchor="t" rtlCol="false" tIns="0" lIns="0" bIns="0" rIns="0">
            <a:spAutoFit/>
          </a:bodyPr>
          <a:lstStyle/>
          <a:p>
            <a:pPr algn="ctr" marL="0" indent="0" lvl="0">
              <a:lnSpc>
                <a:spcPts val="2840"/>
              </a:lnSpc>
              <a:spcBef>
                <a:spcPct val="0"/>
              </a:spcBef>
            </a:pPr>
            <a:r>
              <a:rPr lang="en-US" sz="2029" spc="-81" strike="noStrike" u="none">
                <a:solidFill>
                  <a:srgbClr val="000000"/>
                </a:solidFill>
                <a:latin typeface="DM Sans"/>
                <a:ea typeface="DM Sans"/>
                <a:cs typeface="DM Sans"/>
                <a:sym typeface="DM Sans"/>
              </a:rPr>
              <a:t>MEMBER 2</a:t>
            </a:r>
          </a:p>
        </p:txBody>
      </p:sp>
      <p:sp>
        <p:nvSpPr>
          <p:cNvPr name="TextBox 17" id="17"/>
          <p:cNvSpPr txBox="true"/>
          <p:nvPr/>
        </p:nvSpPr>
        <p:spPr>
          <a:xfrm rot="0">
            <a:off x="13964913" y="7639466"/>
            <a:ext cx="3423805" cy="373141"/>
          </a:xfrm>
          <a:prstGeom prst="rect">
            <a:avLst/>
          </a:prstGeom>
        </p:spPr>
        <p:txBody>
          <a:bodyPr anchor="t" rtlCol="false" tIns="0" lIns="0" bIns="0" rIns="0">
            <a:spAutoFit/>
          </a:bodyPr>
          <a:lstStyle/>
          <a:p>
            <a:pPr algn="ctr" marL="0" indent="0" lvl="0">
              <a:lnSpc>
                <a:spcPts val="2739"/>
              </a:lnSpc>
              <a:spcBef>
                <a:spcPct val="0"/>
              </a:spcBef>
            </a:pPr>
            <a:r>
              <a:rPr lang="en-US" sz="3043" strike="noStrike" u="none">
                <a:solidFill>
                  <a:srgbClr val="000000"/>
                </a:solidFill>
                <a:latin typeface="Helvetica World"/>
                <a:ea typeface="Helvetica World"/>
                <a:cs typeface="Helvetica World"/>
                <a:sym typeface="Helvetica World"/>
              </a:rPr>
              <a:t>Aamir Burki</a:t>
            </a:r>
          </a:p>
        </p:txBody>
      </p:sp>
      <p:sp>
        <p:nvSpPr>
          <p:cNvPr name="TextBox 18" id="18"/>
          <p:cNvSpPr txBox="true"/>
          <p:nvPr/>
        </p:nvSpPr>
        <p:spPr>
          <a:xfrm rot="0">
            <a:off x="13978001" y="8470864"/>
            <a:ext cx="3397629" cy="344374"/>
          </a:xfrm>
          <a:prstGeom prst="rect">
            <a:avLst/>
          </a:prstGeom>
        </p:spPr>
        <p:txBody>
          <a:bodyPr anchor="t" rtlCol="false" tIns="0" lIns="0" bIns="0" rIns="0">
            <a:spAutoFit/>
          </a:bodyPr>
          <a:lstStyle/>
          <a:p>
            <a:pPr algn="ctr" marL="0" indent="0" lvl="0">
              <a:lnSpc>
                <a:spcPts val="2840"/>
              </a:lnSpc>
              <a:spcBef>
                <a:spcPct val="0"/>
              </a:spcBef>
            </a:pPr>
            <a:r>
              <a:rPr lang="en-US" sz="2029" spc="-81" strike="noStrike" u="none">
                <a:solidFill>
                  <a:srgbClr val="000000"/>
                </a:solidFill>
                <a:latin typeface="DM Sans"/>
                <a:ea typeface="DM Sans"/>
                <a:cs typeface="DM Sans"/>
                <a:sym typeface="DM Sans"/>
              </a:rPr>
              <a:t>Member 3</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EF9"/>
        </a:solidFill>
      </p:bgPr>
    </p:bg>
    <p:spTree>
      <p:nvGrpSpPr>
        <p:cNvPr id="1" name=""/>
        <p:cNvGrpSpPr/>
        <p:nvPr/>
      </p:nvGrpSpPr>
      <p:grpSpPr>
        <a:xfrm>
          <a:off x="0" y="0"/>
          <a:ext cx="0" cy="0"/>
          <a:chOff x="0" y="0"/>
          <a:chExt cx="0" cy="0"/>
        </a:xfrm>
      </p:grpSpPr>
      <p:sp>
        <p:nvSpPr>
          <p:cNvPr name="Freeform 2" id="2"/>
          <p:cNvSpPr/>
          <p:nvPr/>
        </p:nvSpPr>
        <p:spPr>
          <a:xfrm flipH="false" flipV="false" rot="0">
            <a:off x="12356613" y="-3108"/>
            <a:ext cx="8153111" cy="8165390"/>
          </a:xfrm>
          <a:custGeom>
            <a:avLst/>
            <a:gdLst/>
            <a:ahLst/>
            <a:cxnLst/>
            <a:rect r="r" b="b" t="t" l="l"/>
            <a:pathLst>
              <a:path h="8165390" w="8153111">
                <a:moveTo>
                  <a:pt x="0" y="0"/>
                </a:moveTo>
                <a:lnTo>
                  <a:pt x="8153110" y="0"/>
                </a:lnTo>
                <a:lnTo>
                  <a:pt x="8153110" y="8165390"/>
                </a:lnTo>
                <a:lnTo>
                  <a:pt x="0" y="8165390"/>
                </a:lnTo>
                <a:lnTo>
                  <a:pt x="0" y="0"/>
                </a:lnTo>
                <a:close/>
              </a:path>
            </a:pathLst>
          </a:custGeom>
          <a:blipFill>
            <a:blip r:embed="rId2">
              <a:alphaModFix amt="6000"/>
            </a:blip>
            <a:stretch>
              <a:fillRect l="0" t="0" r="0" b="0"/>
            </a:stretch>
          </a:blipFill>
        </p:spPr>
      </p:sp>
      <p:sp>
        <p:nvSpPr>
          <p:cNvPr name="AutoShape 3" id="3"/>
          <p:cNvSpPr/>
          <p:nvPr/>
        </p:nvSpPr>
        <p:spPr>
          <a:xfrm>
            <a:off x="1045163" y="1411559"/>
            <a:ext cx="16214137" cy="0"/>
          </a:xfrm>
          <a:prstGeom prst="line">
            <a:avLst/>
          </a:prstGeom>
          <a:ln cap="flat" w="19050">
            <a:solidFill>
              <a:srgbClr val="424242"/>
            </a:solidFill>
            <a:prstDash val="solid"/>
            <a:headEnd type="none" len="sm" w="sm"/>
            <a:tailEnd type="none" len="sm" w="sm"/>
          </a:ln>
        </p:spPr>
      </p:sp>
      <p:sp>
        <p:nvSpPr>
          <p:cNvPr name="Freeform 4" id="4"/>
          <p:cNvSpPr/>
          <p:nvPr/>
        </p:nvSpPr>
        <p:spPr>
          <a:xfrm flipH="false" flipV="false" rot="-699989">
            <a:off x="9206288" y="4440158"/>
            <a:ext cx="12439841" cy="7977048"/>
          </a:xfrm>
          <a:custGeom>
            <a:avLst/>
            <a:gdLst/>
            <a:ahLst/>
            <a:cxnLst/>
            <a:rect r="r" b="b" t="t" l="l"/>
            <a:pathLst>
              <a:path h="7977048" w="12439841">
                <a:moveTo>
                  <a:pt x="0" y="0"/>
                </a:moveTo>
                <a:lnTo>
                  <a:pt x="12439842" y="0"/>
                </a:lnTo>
                <a:lnTo>
                  <a:pt x="12439842" y="7977049"/>
                </a:lnTo>
                <a:lnTo>
                  <a:pt x="0" y="7977049"/>
                </a:lnTo>
                <a:lnTo>
                  <a:pt x="0" y="0"/>
                </a:lnTo>
                <a:close/>
              </a:path>
            </a:pathLst>
          </a:custGeom>
          <a:blipFill>
            <a:blip r:embed="rId3">
              <a:alphaModFix amt="31999"/>
            </a:blip>
            <a:stretch>
              <a:fillRect l="0" t="0" r="0" b="0"/>
            </a:stretch>
          </a:blipFill>
        </p:spPr>
      </p:sp>
      <p:sp>
        <p:nvSpPr>
          <p:cNvPr name="Freeform 5" id="5"/>
          <p:cNvSpPr/>
          <p:nvPr/>
        </p:nvSpPr>
        <p:spPr>
          <a:xfrm flipH="false" flipV="false" rot="4113877">
            <a:off x="-3143783" y="-3104227"/>
            <a:ext cx="7998509" cy="8658737"/>
          </a:xfrm>
          <a:custGeom>
            <a:avLst/>
            <a:gdLst/>
            <a:ahLst/>
            <a:cxnLst/>
            <a:rect r="r" b="b" t="t" l="l"/>
            <a:pathLst>
              <a:path h="8658737" w="7998509">
                <a:moveTo>
                  <a:pt x="0" y="0"/>
                </a:moveTo>
                <a:lnTo>
                  <a:pt x="7998508" y="0"/>
                </a:lnTo>
                <a:lnTo>
                  <a:pt x="7998508" y="8658737"/>
                </a:lnTo>
                <a:lnTo>
                  <a:pt x="0" y="8658737"/>
                </a:lnTo>
                <a:lnTo>
                  <a:pt x="0" y="0"/>
                </a:lnTo>
                <a:close/>
              </a:path>
            </a:pathLst>
          </a:custGeom>
          <a:blipFill>
            <a:blip r:embed="rId4">
              <a:alphaModFix amt="24000"/>
            </a:blip>
            <a:stretch>
              <a:fillRect l="0" t="0" r="0" b="0"/>
            </a:stretch>
          </a:blipFill>
        </p:spPr>
      </p:sp>
      <p:sp>
        <p:nvSpPr>
          <p:cNvPr name="TextBox 6" id="6"/>
          <p:cNvSpPr txBox="true"/>
          <p:nvPr/>
        </p:nvSpPr>
        <p:spPr>
          <a:xfrm rot="0">
            <a:off x="1028700" y="4055084"/>
            <a:ext cx="16230600" cy="4559298"/>
          </a:xfrm>
          <a:prstGeom prst="rect">
            <a:avLst/>
          </a:prstGeom>
        </p:spPr>
        <p:txBody>
          <a:bodyPr anchor="t" rtlCol="false" tIns="0" lIns="0" bIns="0" rIns="0">
            <a:spAutoFit/>
          </a:bodyPr>
          <a:lstStyle/>
          <a:p>
            <a:pPr algn="l" marL="0" indent="0" lvl="0">
              <a:lnSpc>
                <a:spcPts val="34445"/>
              </a:lnSpc>
              <a:spcBef>
                <a:spcPct val="0"/>
              </a:spcBef>
            </a:pPr>
            <a:r>
              <a:rPr lang="en-US" b="true" sz="24604" spc="-1279">
                <a:solidFill>
                  <a:srgbClr val="222223"/>
                </a:solidFill>
                <a:latin typeface="Helvetica World Bold"/>
                <a:ea typeface="Helvetica World Bold"/>
                <a:cs typeface="Helvetica World Bold"/>
                <a:sym typeface="Helvetica World Bold"/>
              </a:rPr>
              <a:t>Thank You</a:t>
            </a:r>
          </a:p>
        </p:txBody>
      </p:sp>
      <p:sp>
        <p:nvSpPr>
          <p:cNvPr name="TextBox 7" id="7"/>
          <p:cNvSpPr txBox="true"/>
          <p:nvPr/>
        </p:nvSpPr>
        <p:spPr>
          <a:xfrm rot="0">
            <a:off x="1045163" y="8374501"/>
            <a:ext cx="13197441" cy="877545"/>
          </a:xfrm>
          <a:prstGeom prst="rect">
            <a:avLst/>
          </a:prstGeom>
        </p:spPr>
        <p:txBody>
          <a:bodyPr anchor="t" rtlCol="false" tIns="0" lIns="0" bIns="0" rIns="0">
            <a:spAutoFit/>
          </a:bodyPr>
          <a:lstStyle/>
          <a:p>
            <a:pPr algn="l" marL="0" indent="0" lvl="0">
              <a:lnSpc>
                <a:spcPts val="3424"/>
              </a:lnSpc>
            </a:pPr>
            <a:r>
              <a:rPr lang="en-US" sz="3424" spc="-178">
                <a:solidFill>
                  <a:srgbClr val="222223"/>
                </a:solidFill>
                <a:latin typeface="Helvetica World"/>
                <a:ea typeface="Helvetica World"/>
                <a:cs typeface="Helvetica World"/>
                <a:sym typeface="Helvetica World"/>
              </a:rPr>
              <a:t>Better financial understanding. Smarter retirement decisions. Clearer guidance.</a:t>
            </a:r>
          </a:p>
        </p:txBody>
      </p:sp>
      <p:sp>
        <p:nvSpPr>
          <p:cNvPr name="TextBox 8" id="8"/>
          <p:cNvSpPr txBox="true"/>
          <p:nvPr/>
        </p:nvSpPr>
        <p:spPr>
          <a:xfrm rot="0">
            <a:off x="1045163" y="650408"/>
            <a:ext cx="2457313" cy="531494"/>
          </a:xfrm>
          <a:prstGeom prst="rect">
            <a:avLst/>
          </a:prstGeom>
        </p:spPr>
        <p:txBody>
          <a:bodyPr anchor="t" rtlCol="false" tIns="0" lIns="0" bIns="0" rIns="0">
            <a:spAutoFit/>
          </a:bodyPr>
          <a:lstStyle/>
          <a:p>
            <a:pPr algn="l" marL="0" indent="0" lvl="0">
              <a:lnSpc>
                <a:spcPts val="4305"/>
              </a:lnSpc>
            </a:pPr>
            <a:r>
              <a:rPr lang="en-US" b="true" sz="3075" spc="-144">
                <a:solidFill>
                  <a:srgbClr val="424242"/>
                </a:solidFill>
                <a:latin typeface="Open Sauce Bold"/>
                <a:ea typeface="Open Sauce Bold"/>
                <a:cs typeface="Open Sauce Bold"/>
                <a:sym typeface="Open Sauce Bold"/>
              </a:rPr>
              <a:t>RetireWise AI</a:t>
            </a:r>
          </a:p>
        </p:txBody>
      </p:sp>
      <p:sp>
        <p:nvSpPr>
          <p:cNvPr name="TextBox 9" id="9"/>
          <p:cNvSpPr txBox="true"/>
          <p:nvPr/>
        </p:nvSpPr>
        <p:spPr>
          <a:xfrm rot="0">
            <a:off x="13809146" y="8642518"/>
            <a:ext cx="3450154" cy="281569"/>
          </a:xfrm>
          <a:prstGeom prst="rect">
            <a:avLst/>
          </a:prstGeom>
        </p:spPr>
        <p:txBody>
          <a:bodyPr anchor="t" rtlCol="false" tIns="0" lIns="0" bIns="0" rIns="0">
            <a:spAutoFit/>
          </a:bodyPr>
          <a:lstStyle/>
          <a:p>
            <a:pPr algn="r" marL="0" indent="0" lvl="0">
              <a:lnSpc>
                <a:spcPts val="2266"/>
              </a:lnSpc>
            </a:pPr>
            <a:r>
              <a:rPr lang="en-US" b="true" sz="1798" spc="-100">
                <a:solidFill>
                  <a:srgbClr val="424242"/>
                </a:solidFill>
                <a:latin typeface="Open Sauce Bold"/>
                <a:ea typeface="Open Sauce Bold"/>
                <a:cs typeface="Open Sauce Bold"/>
                <a:sym typeface="Open Sauce Bold"/>
              </a:rPr>
              <a:t>Presented by :</a:t>
            </a:r>
          </a:p>
        </p:txBody>
      </p:sp>
      <p:sp>
        <p:nvSpPr>
          <p:cNvPr name="TextBox 10" id="10"/>
          <p:cNvSpPr txBox="true"/>
          <p:nvPr/>
        </p:nvSpPr>
        <p:spPr>
          <a:xfrm rot="0">
            <a:off x="13809146" y="8940165"/>
            <a:ext cx="3450154" cy="318146"/>
          </a:xfrm>
          <a:prstGeom prst="rect">
            <a:avLst/>
          </a:prstGeom>
        </p:spPr>
        <p:txBody>
          <a:bodyPr anchor="t" rtlCol="false" tIns="0" lIns="0" bIns="0" rIns="0">
            <a:spAutoFit/>
          </a:bodyPr>
          <a:lstStyle/>
          <a:p>
            <a:pPr algn="r" marL="0" indent="0" lvl="0">
              <a:lnSpc>
                <a:spcPts val="2518"/>
              </a:lnSpc>
            </a:pPr>
            <a:r>
              <a:rPr lang="en-US" sz="1998" spc="-111">
                <a:solidFill>
                  <a:srgbClr val="424242"/>
                </a:solidFill>
                <a:latin typeface="Open Sauce"/>
                <a:ea typeface="Open Sauce"/>
                <a:cs typeface="Open Sauce"/>
                <a:sym typeface="Open Sauce"/>
              </a:rPr>
              <a:t>RetireWise AI Team</a:t>
            </a:r>
          </a:p>
        </p:txBody>
      </p:sp>
      <p:grpSp>
        <p:nvGrpSpPr>
          <p:cNvPr name="Group 11" id="11"/>
          <p:cNvGrpSpPr/>
          <p:nvPr/>
        </p:nvGrpSpPr>
        <p:grpSpPr>
          <a:xfrm rot="0">
            <a:off x="15292495" y="717002"/>
            <a:ext cx="1966805" cy="464845"/>
            <a:chOff x="0" y="0"/>
            <a:chExt cx="518006" cy="122428"/>
          </a:xfrm>
        </p:grpSpPr>
        <p:sp>
          <p:nvSpPr>
            <p:cNvPr name="Freeform 12" id="12"/>
            <p:cNvSpPr/>
            <p:nvPr/>
          </p:nvSpPr>
          <p:spPr>
            <a:xfrm flipH="false" flipV="false" rot="0">
              <a:off x="0" y="0"/>
              <a:ext cx="518006" cy="122428"/>
            </a:xfrm>
            <a:custGeom>
              <a:avLst/>
              <a:gdLst/>
              <a:ahLst/>
              <a:cxnLst/>
              <a:rect r="r" b="b" t="t" l="l"/>
              <a:pathLst>
                <a:path h="122428" w="518006">
                  <a:moveTo>
                    <a:pt x="61214" y="0"/>
                  </a:moveTo>
                  <a:lnTo>
                    <a:pt x="456792" y="0"/>
                  </a:lnTo>
                  <a:cubicBezTo>
                    <a:pt x="490600" y="0"/>
                    <a:pt x="518006" y="27406"/>
                    <a:pt x="518006" y="61214"/>
                  </a:cubicBezTo>
                  <a:lnTo>
                    <a:pt x="518006" y="61214"/>
                  </a:lnTo>
                  <a:cubicBezTo>
                    <a:pt x="518006" y="95022"/>
                    <a:pt x="490600" y="122428"/>
                    <a:pt x="456792" y="122428"/>
                  </a:cubicBezTo>
                  <a:lnTo>
                    <a:pt x="61214" y="122428"/>
                  </a:lnTo>
                  <a:cubicBezTo>
                    <a:pt x="27406" y="122428"/>
                    <a:pt x="0" y="95022"/>
                    <a:pt x="0" y="61214"/>
                  </a:cubicBezTo>
                  <a:lnTo>
                    <a:pt x="0" y="61214"/>
                  </a:lnTo>
                  <a:cubicBezTo>
                    <a:pt x="0" y="27406"/>
                    <a:pt x="27406" y="0"/>
                    <a:pt x="61214" y="0"/>
                  </a:cubicBezTo>
                  <a:close/>
                </a:path>
              </a:pathLst>
            </a:custGeom>
            <a:solidFill>
              <a:srgbClr val="593B8A"/>
            </a:solidFill>
            <a:ln w="19050" cap="rnd">
              <a:solidFill>
                <a:srgbClr val="29241F"/>
              </a:solidFill>
              <a:prstDash val="solid"/>
              <a:round/>
            </a:ln>
          </p:spPr>
        </p:sp>
        <p:sp>
          <p:nvSpPr>
            <p:cNvPr name="TextBox 13" id="13"/>
            <p:cNvSpPr txBox="true"/>
            <p:nvPr/>
          </p:nvSpPr>
          <p:spPr>
            <a:xfrm>
              <a:off x="0" y="-38100"/>
              <a:ext cx="518006" cy="160528"/>
            </a:xfrm>
            <a:prstGeom prst="rect">
              <a:avLst/>
            </a:prstGeom>
          </p:spPr>
          <p:txBody>
            <a:bodyPr anchor="ctr" rtlCol="false" tIns="50800" lIns="50800" bIns="50800" rIns="50800"/>
            <a:lstStyle/>
            <a:p>
              <a:pPr algn="ctr" marL="0" indent="0" lvl="0">
                <a:lnSpc>
                  <a:spcPts val="2741"/>
                </a:lnSpc>
              </a:pPr>
            </a:p>
          </p:txBody>
        </p:sp>
      </p:grpSp>
      <p:sp>
        <p:nvSpPr>
          <p:cNvPr name="TextBox 14" id="14"/>
          <p:cNvSpPr txBox="true"/>
          <p:nvPr/>
        </p:nvSpPr>
        <p:spPr>
          <a:xfrm rot="0">
            <a:off x="15292495" y="810781"/>
            <a:ext cx="1966805" cy="248738"/>
          </a:xfrm>
          <a:prstGeom prst="rect">
            <a:avLst/>
          </a:prstGeom>
        </p:spPr>
        <p:txBody>
          <a:bodyPr anchor="t" rtlCol="false" tIns="0" lIns="0" bIns="0" rIns="0">
            <a:spAutoFit/>
          </a:bodyPr>
          <a:lstStyle/>
          <a:p>
            <a:pPr algn="ctr" marL="0" indent="0" lvl="0">
              <a:lnSpc>
                <a:spcPts val="2040"/>
              </a:lnSpc>
              <a:spcBef>
                <a:spcPct val="0"/>
              </a:spcBef>
            </a:pPr>
            <a:r>
              <a:rPr lang="en-US" sz="1457" spc="-75">
                <a:solidFill>
                  <a:srgbClr val="FFFFFF"/>
                </a:solidFill>
                <a:latin typeface="Inter"/>
                <a:ea typeface="Inter"/>
                <a:cs typeface="Inter"/>
                <a:sym typeface="Inter"/>
              </a:rPr>
              <a:t>June 11,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DAHVFluj2Lg</dc:identifier>
  <dcterms:modified xsi:type="dcterms:W3CDTF">2011-08-01T06:04:30Z</dcterms:modified>
  <cp:revision>1</cp:revision>
  <dc:title>RetireWise AI: Clearer Retirement Decisions</dc:title>
</cp:coreProperties>
</file>